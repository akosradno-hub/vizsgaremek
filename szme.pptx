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gbKSEBz5nwCqoHfSK2d1GD61fb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D2CAB6-E251-46B3-85BC-45C6C2B9A858}">
  <a:tblStyle styleId="{59D2CAB6-E251-46B3-85BC-45C6C2B9A85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b254c90e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b254c90e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db254c90e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4" name="Google Shape;85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6" name="Google Shape;88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28.png"/><Relationship Id="rId7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45.png"/><Relationship Id="rId5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Relationship Id="rId5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0.png"/><Relationship Id="rId6" Type="http://schemas.openxmlformats.org/officeDocument/2006/relationships/image" Target="../media/image43.png"/><Relationship Id="rId7" Type="http://schemas.openxmlformats.org/officeDocument/2006/relationships/image" Target="../media/image4.png"/><Relationship Id="rId8" Type="http://schemas.openxmlformats.org/officeDocument/2006/relationships/image" Target="../media/image4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7.png"/><Relationship Id="rId4" Type="http://schemas.openxmlformats.org/officeDocument/2006/relationships/image" Target="../media/image4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3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E2761">
              <a:alpha val="50196"/>
            </a:srgbClr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905695" y="4572000"/>
            <a:ext cx="3657600" cy="3657600"/>
          </a:xfrm>
          <a:prstGeom prst="ellipse">
            <a:avLst/>
          </a:prstGeom>
          <a:solidFill>
            <a:srgbClr val="1E2761">
              <a:alpha val="40000"/>
            </a:srgbClr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648" y="128016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457200" y="2468880"/>
            <a:ext cx="1127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Szépművészeti Egyetem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3017520"/>
            <a:ext cx="112772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Egyetemi Hálózat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3931920"/>
            <a:ext cx="112772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Tervezés • Implementáció • Üzemeltetés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4724248" y="475488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457200" y="5029200"/>
            <a:ext cx="1127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57200" y="539496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Radnó Ákos</a:t>
            </a: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• </a:t>
            </a:r>
            <a:r>
              <a:rPr b="1"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Madácsi Noel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Bevezetés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projekt célja és koncepciója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1554480"/>
            <a:ext cx="5943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Egy modern, több telephelyes felsőoktatási intézmény teljes körű informatikai hálózatának tervezése és implementációja.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2743200"/>
            <a:ext cx="5943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Főépület robusztus gerinchálózata szolgálja ki az adminisztrációs és oktatási rendszereket. Ehhez szigorúan szeparáltan kapcsolódik a Labor és a Könyvtár.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858000" y="1554480"/>
            <a:ext cx="640080" cy="64008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16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7680960" y="15087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Calibri"/>
                <a:ea typeface="Calibri"/>
                <a:cs typeface="Calibri"/>
                <a:sym typeface="Calibri"/>
              </a:rPr>
              <a:t>Kiberbiztonság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680960" y="18745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DMZ, ASA tűzfal, IPsec VPN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858000" y="2514600"/>
            <a:ext cx="640080" cy="64008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5160" y="2651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7680960" y="24688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Calibri"/>
                <a:ea typeface="Calibri"/>
                <a:cs typeface="Calibri"/>
                <a:sym typeface="Calibri"/>
              </a:rPr>
              <a:t>Hibatűrés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680960" y="28346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HSRP, STP, EtherChannel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858000" y="3474720"/>
            <a:ext cx="640080" cy="64008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95160" y="3611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7680960" y="34290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Calibri"/>
                <a:ea typeface="Calibri"/>
                <a:cs typeface="Calibri"/>
                <a:sym typeface="Calibri"/>
              </a:rPr>
              <a:t>Automatizáció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680960" y="37947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 szkriptek, RADIUS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858000" y="4434840"/>
            <a:ext cx="640080" cy="64008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95160" y="4572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/>
          <p:nvPr/>
        </p:nvSpPr>
        <p:spPr>
          <a:xfrm>
            <a:off x="7680960" y="43891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Calibri"/>
                <a:ea typeface="Calibri"/>
                <a:cs typeface="Calibri"/>
                <a:sym typeface="Calibri"/>
              </a:rPr>
              <a:t>Skálázhatóság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680960" y="47548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VLAN szegmentáció, OSPF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" y="5394960"/>
            <a:ext cx="11277295" cy="82296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57200" y="5394960"/>
            <a:ext cx="112772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 telephely  •  4 router  •  2 ASA tűzfal  •  9 switch  •  4 Access Point  •  2 szerver platform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Csapatmunka és projektmenedzsment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Modern eszközök a párhuzamos munkavégzéshez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48640" y="1554480"/>
            <a:ext cx="3657600" cy="41148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548640" y="1554480"/>
            <a:ext cx="3657600" cy="109728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1828800" y="1874520"/>
            <a:ext cx="1097280" cy="109728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21031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731520" y="31089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Trello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31520" y="36118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Feladatütemezés és követés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22960" y="41148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Vizuális Kanban-tabla: To Do -&gt; Pending -&gt; Done. Teljes átláthatóság a részfeladatok állapotáról.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434840" y="1554480"/>
            <a:ext cx="3657600" cy="41148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434840" y="1554480"/>
            <a:ext cx="3657600" cy="109728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715000" y="1874520"/>
            <a:ext cx="1097280" cy="109728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21031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4617720" y="31089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Discord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617720" y="36118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Napi szintű kommunikáció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709160" y="41148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Közvetlen, 1-on-1 csatorna a gyors technikai akadályok és azonnali döntést igénylő feladatok kezelésére.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321040" y="1554480"/>
            <a:ext cx="3657600" cy="41148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8321040" y="1554480"/>
            <a:ext cx="3657600" cy="109728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9601200" y="1874520"/>
            <a:ext cx="1097280" cy="109728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29800" y="21031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8503920" y="31089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Google Docs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503920" y="36118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Közös dokumentumszerkesztés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595360" y="411480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Valós idejű, párhuzamos szerkesztés. Revíziós előzmények és kommentek a stilisztikai javításokhoz.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Hálózati topológia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Három telephely - egységes infrastruktúra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114800" y="1828800"/>
            <a:ext cx="3931920" cy="274320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4114800" y="1874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FŐÉPÜLET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233172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/>
          <p:nvPr/>
        </p:nvSpPr>
        <p:spPr>
          <a:xfrm>
            <a:off x="4297680" y="32004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Központi gerinchálózat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MLSW_1, MLSW_2 (HSRP)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DMZ + szerverek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Adminok / Tanárok / Diákok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686800" y="2286000"/>
            <a:ext cx="3017520" cy="20116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8686800" y="23317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KÖNYVTÁR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21240" y="2697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8869680" y="338328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Library + Diákok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WAN Dark Fiber link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57200" y="2286000"/>
            <a:ext cx="3017520" cy="20116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457200" y="23317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LABOR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91640" y="2697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640080" y="338328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Tanárok + Diákok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IPsec VPN alagút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4"/>
          <p:cNvCxnSpPr/>
          <p:nvPr/>
        </p:nvCxnSpPr>
        <p:spPr>
          <a:xfrm>
            <a:off x="3474720" y="3200400"/>
            <a:ext cx="640080" cy="0"/>
          </a:xfrm>
          <a:prstGeom prst="straightConnector1">
            <a:avLst/>
          </a:prstGeom>
          <a:noFill/>
          <a:ln cap="flat" cmpd="sng" w="38100">
            <a:solidFill>
              <a:srgbClr val="E6394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1" name="Google Shape;111;p4"/>
          <p:cNvSpPr/>
          <p:nvPr/>
        </p:nvSpPr>
        <p:spPr>
          <a:xfrm>
            <a:off x="3520440" y="28803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4"/>
          <p:cNvCxnSpPr/>
          <p:nvPr/>
        </p:nvCxnSpPr>
        <p:spPr>
          <a:xfrm>
            <a:off x="8046720" y="3200400"/>
            <a:ext cx="640080" cy="0"/>
          </a:xfrm>
          <a:prstGeom prst="straightConnector1">
            <a:avLst/>
          </a:prstGeom>
          <a:noFill/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4"/>
          <p:cNvSpPr/>
          <p:nvPr/>
        </p:nvSpPr>
        <p:spPr>
          <a:xfrm>
            <a:off x="8092440" y="28803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WAN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57200" y="49377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B3C"/>
                </a:solidFill>
                <a:latin typeface="Calibri"/>
                <a:ea typeface="Calibri"/>
                <a:cs typeface="Calibri"/>
                <a:sym typeface="Calibri"/>
              </a:rPr>
              <a:t>VLAN színkód: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57200" y="5349240"/>
            <a:ext cx="274320" cy="274320"/>
          </a:xfrm>
          <a:prstGeom prst="rect">
            <a:avLst/>
          </a:prstGeom>
          <a:solidFill>
            <a:srgbClr val="1E40AF"/>
          </a:solidFill>
          <a:ln cap="flat" cmpd="sng" w="1270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777240" y="5349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Adminok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377440" y="5349240"/>
            <a:ext cx="274320" cy="274320"/>
          </a:xfrm>
          <a:prstGeom prst="rect">
            <a:avLst/>
          </a:prstGeom>
          <a:solidFill>
            <a:srgbClr val="CA8A04"/>
          </a:solidFill>
          <a:ln cap="flat" cmpd="sng" w="12700">
            <a:solidFill>
              <a:srgbClr val="CA8A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2697480" y="5349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Tanárok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297680" y="5349240"/>
            <a:ext cx="274320" cy="2743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4617720" y="5349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Diákok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217920" y="5349240"/>
            <a:ext cx="274320" cy="274320"/>
          </a:xfrm>
          <a:prstGeom prst="rect">
            <a:avLst/>
          </a:prstGeom>
          <a:solidFill>
            <a:srgbClr val="9333EA"/>
          </a:solidFill>
          <a:ln cap="flat" cmpd="sng" w="12700">
            <a:solidFill>
              <a:srgbClr val="933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6537960" y="5349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Könyvtár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8138160" y="5349240"/>
            <a:ext cx="274320" cy="27432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8458200" y="5349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DMZ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0058400" y="5349240"/>
            <a:ext cx="274320" cy="27432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10378440" y="5349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Szerverek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57200" y="5852160"/>
            <a:ext cx="11277295" cy="54864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57200" y="585216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Skálázható, redundáns architektúra • Központi szolgáltatások • Szigorú szegmentáció • End-to-end biztonság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b254c90eb_0_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E2761">
              <a:alpha val="50000"/>
            </a:srgbClr>
          </a:solidFill>
          <a:ln cap="flat" cmpd="sng" w="126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db254c90eb_0_0"/>
          <p:cNvSpPr/>
          <p:nvPr/>
        </p:nvSpPr>
        <p:spPr>
          <a:xfrm>
            <a:off x="9906000" y="4572000"/>
            <a:ext cx="3657600" cy="3657600"/>
          </a:xfrm>
          <a:prstGeom prst="ellipse">
            <a:avLst/>
          </a:prstGeom>
          <a:solidFill>
            <a:srgbClr val="1E2761">
              <a:alpha val="40000"/>
            </a:srgbClr>
          </a:solidFill>
          <a:ln cap="flat" cmpd="sng" w="126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db254c90eb_0_0"/>
          <p:cNvSpPr/>
          <p:nvPr/>
        </p:nvSpPr>
        <p:spPr>
          <a:xfrm>
            <a:off x="0" y="457200"/>
            <a:ext cx="164700" cy="7773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db254c90eb_0_0"/>
          <p:cNvSpPr/>
          <p:nvPr/>
        </p:nvSpPr>
        <p:spPr>
          <a:xfrm>
            <a:off x="457200" y="411480"/>
            <a:ext cx="11277300" cy="54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Topológia</a:t>
            </a:r>
            <a:endParaRPr b="1" sz="3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1" name="Google Shape;141;g3db254c90eb_0_0"/>
          <p:cNvSpPr/>
          <p:nvPr/>
        </p:nvSpPr>
        <p:spPr>
          <a:xfrm>
            <a:off x="457200" y="914400"/>
            <a:ext cx="11277300" cy="36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hálózat fizikai és logikai felépítése</a:t>
            </a:r>
            <a:endParaRPr i="1" sz="14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db254c90eb_0_0"/>
          <p:cNvSpPr/>
          <p:nvPr/>
        </p:nvSpPr>
        <p:spPr>
          <a:xfrm>
            <a:off x="0" y="6537960"/>
            <a:ext cx="12192000" cy="320100"/>
          </a:xfrm>
          <a:prstGeom prst="rect">
            <a:avLst/>
          </a:prstGeom>
          <a:solidFill>
            <a:srgbClr val="0F1B3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db254c90eb_0_0"/>
          <p:cNvSpPr/>
          <p:nvPr/>
        </p:nvSpPr>
        <p:spPr>
          <a:xfrm>
            <a:off x="457200" y="6547104"/>
            <a:ext cx="82296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• Vizsgaremek</a:t>
            </a:r>
            <a:endParaRPr sz="9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db254c90eb_0_0"/>
          <p:cNvSpPr/>
          <p:nvPr/>
        </p:nvSpPr>
        <p:spPr>
          <a:xfrm>
            <a:off x="10820400" y="6547104"/>
            <a:ext cx="9144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5 / 28</a:t>
            </a:r>
            <a:endParaRPr sz="9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g3db254c90eb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8250" y="411475"/>
            <a:ext cx="6992018" cy="59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VLAN szegmentáció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Logikai elválasztás telephelyenként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57200" y="1554480"/>
            <a:ext cx="3749040" cy="64008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457200" y="15544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FŐÉPÜLET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57200" y="18745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10.1.x.0/24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57200" y="2240280"/>
            <a:ext cx="3749040" cy="41148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48640" y="2304288"/>
            <a:ext cx="640080" cy="274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548640" y="23042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325880" y="23042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Teachers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57200" y="2697480"/>
            <a:ext cx="3749040" cy="41148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548640" y="2761488"/>
            <a:ext cx="640080" cy="274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548640" y="27614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325880" y="27614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57200" y="3154680"/>
            <a:ext cx="3749040" cy="41148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548640" y="3218688"/>
            <a:ext cx="640080" cy="274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548640" y="32186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325880" y="32186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57200" y="3611880"/>
            <a:ext cx="3749040" cy="41148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548640" y="3675888"/>
            <a:ext cx="640080" cy="274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548640" y="36758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325880" y="36758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57200" y="4069080"/>
            <a:ext cx="3749040" cy="41148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548640" y="4133088"/>
            <a:ext cx="640080" cy="274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548640" y="4133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325880" y="41330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DMZ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57200" y="4526280"/>
            <a:ext cx="3749040" cy="41148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548640" y="4590288"/>
            <a:ext cx="640080" cy="274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548640" y="45902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325880" y="45902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57200" y="4983480"/>
            <a:ext cx="3749040" cy="41148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548640" y="5047488"/>
            <a:ext cx="640080" cy="274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548640" y="50474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325880" y="50474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57200" y="5440680"/>
            <a:ext cx="3749040" cy="41148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548640" y="5504688"/>
            <a:ext cx="640080" cy="274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548640" y="55046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1325880" y="55046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343400" y="1554480"/>
            <a:ext cx="3749040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4343400" y="15544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KÖNYVTÁR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343400" y="18745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10.2.x.0/24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343400" y="2240280"/>
            <a:ext cx="3749040" cy="41148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4434840" y="2304288"/>
            <a:ext cx="640080" cy="274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4434840" y="23042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212080" y="23042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343400" y="2697480"/>
            <a:ext cx="3749040" cy="41148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4434840" y="2761488"/>
            <a:ext cx="640080" cy="274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4434840" y="27614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212080" y="27614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Library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343400" y="3154680"/>
            <a:ext cx="3749040" cy="41148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4434840" y="3218688"/>
            <a:ext cx="640080" cy="274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4434840" y="32186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212080" y="32186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343400" y="3611880"/>
            <a:ext cx="3749040" cy="41148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434840" y="3675888"/>
            <a:ext cx="640080" cy="274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434840" y="36758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212080" y="36758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343400" y="4069080"/>
            <a:ext cx="3749040" cy="41148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4434840" y="4133088"/>
            <a:ext cx="640080" cy="274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434840" y="4133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5212080" y="41330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8229600" y="1554480"/>
            <a:ext cx="3749040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8229600" y="15544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LABOR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8229600" y="18745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10.3.x.0/24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8229600" y="2240280"/>
            <a:ext cx="3749040" cy="41148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8321040" y="2304288"/>
            <a:ext cx="640080" cy="274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8321040" y="23042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9098280" y="23042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Teachers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8229600" y="2697480"/>
            <a:ext cx="3749040" cy="41148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8321040" y="2761488"/>
            <a:ext cx="640080" cy="274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8321040" y="27614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9098280" y="27614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8229600" y="3154680"/>
            <a:ext cx="3749040" cy="41148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8321040" y="3218688"/>
            <a:ext cx="640080" cy="274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8321040" y="32186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9098280" y="32186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8229600" y="3611880"/>
            <a:ext cx="3749040" cy="41148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8321040" y="3675888"/>
            <a:ext cx="640080" cy="274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8321040" y="36758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9098280" y="36758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8229600" y="4069080"/>
            <a:ext cx="3749040" cy="41148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8321040" y="4133088"/>
            <a:ext cx="640080" cy="274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8321040" y="4133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9098280" y="41330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457200" y="5943600"/>
            <a:ext cx="11277295" cy="50292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457200" y="5943600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VLAN 100 (Native) és VLAN 101 (Trash) biztonsági célt szolgálnak — a 'fel nem használt portok' karanténja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6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NAT - Címfordítás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57350" y="1023475"/>
            <a:ext cx="1127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tratégia: PAT + Statikus NAT a DMZ-hez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57350" y="1663555"/>
            <a:ext cx="5669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FŐÉPÜLET — Hibrid NAT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457350" y="2120755"/>
            <a:ext cx="5669400" cy="11886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640230" y="2212195"/>
            <a:ext cx="5486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Dinamikus PAT  </a:t>
            </a: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(általános internet)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Belső: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10.1.10/20/30/50/99.0/24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Külső: </a:t>
            </a:r>
            <a:r>
              <a:rPr b="1" i="0" lang="en-US" sz="12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203.0.113.2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457350" y="3492355"/>
            <a:ext cx="5669400" cy="11886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640230" y="3583795"/>
            <a:ext cx="5486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Statikus NAT  </a:t>
            </a: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(DMZ Webszerver)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Belső: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10.1.60.10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Külső: </a:t>
            </a:r>
            <a:r>
              <a:rPr b="1" i="0" lang="en-US" sz="12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203.0.113.3 (HTTP/HTTPS)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400950" y="1663555"/>
            <a:ext cx="530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FIÓKTELEPEK — Egyszerű PAT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6400950" y="2120755"/>
            <a:ext cx="5303400" cy="11886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6583830" y="2212195"/>
            <a:ext cx="5120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KÖNYVTÁR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10.2.x.x  -&gt;  </a:t>
            </a:r>
            <a:r>
              <a:rPr b="1" i="0" lang="en-US" sz="12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203.0.110.1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6400950" y="3492355"/>
            <a:ext cx="5303400" cy="11886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6583830" y="3583795"/>
            <a:ext cx="5120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LABOR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10.3.x.x  -&gt;  </a:t>
            </a:r>
            <a:r>
              <a:rPr b="1" i="0" lang="en-US" sz="12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203.0.115.1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IP címterv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Strukturált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457200" y="150876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Az IP-tartomány </a:t>
            </a:r>
            <a:r>
              <a:rPr i="1"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második</a:t>
            </a: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oktettje a telephelyet (1=Főépület, 2=Könyvtár, 3=Labor), a </a:t>
            </a:r>
            <a:r>
              <a:rPr i="1"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harmadik</a:t>
            </a: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oktett a VLAN-t azonosítja.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0" name="Google Shape;270;p8"/>
          <p:cNvGraphicFramePr/>
          <p:nvPr/>
        </p:nvGraphicFramePr>
        <p:xfrm>
          <a:off x="457200" y="2194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{59D2CAB6-E251-46B3-85BC-45C6C2B9A858}</a:tableStyleId>
              </a:tblPr>
              <a:tblGrid>
                <a:gridCol w="1463050"/>
                <a:gridCol w="2011675"/>
                <a:gridCol w="2560325"/>
                <a:gridCol w="914400"/>
                <a:gridCol w="429767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Eszköz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Interfész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cím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Maszk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Megjegyzés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C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Gig0/0.10-99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10.1.x.1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Főépület VLAN átjárók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Gig0/0.10-99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10.1.x.2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Redundans átjárók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R1 &lt;-&gt; R2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Gig0/2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10.1.254.1/2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/30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Belső tranzit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R2 &lt;-&gt; R21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Ser0/3/0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10.255.0.1/2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/30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WAN link Könyvtár fele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ASA1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Gig1/1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203.0.113.2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OUTSIDE - publikus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ASA1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Gig1/2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10.1.60.1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DMZ átjáró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ASA1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Gig1/2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2001:DB8:ACAD:10::1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/64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DMZ - IPv6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ASA21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Gig1/1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203.0.110.1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Könyvtár OUTSIDE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R31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Gig0/0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203.0.115.1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Labor OUTSIDE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1" name="Google Shape;271;p8"/>
          <p:cNvSpPr/>
          <p:nvPr/>
        </p:nvSpPr>
        <p:spPr>
          <a:xfrm>
            <a:off x="457200" y="5852160"/>
            <a:ext cx="11277295" cy="5029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457200" y="5852160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Elv: minden routerhez router-on-a-stick alinterfeszek a VLAN-okhoz, /30 maszkok a tranzit linkekhez, dedikált management VLAN (99) eszkozonkent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8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VTP — VLAN Trunking Protocol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Központosított VLAN-adatbázis kezelés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457200" y="155448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A tervezés célja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457200" y="1965960"/>
            <a:ext cx="5669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növekedéssel a VLAN-ok manuális létrehozása minden switchen hibalehetőséget rejt. A VTP-vel egyetlen módosítás a kijelölt szerveren automatikusan szinkronizálódik a telephely összes switchevel.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457200" y="32004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Telephelyi izoláció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457200" y="3611880"/>
            <a:ext cx="56692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+  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Két különálló VTP domain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+  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Független VLAN-struktúra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+  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MD5 jelszavas védelem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+  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VTP Verzió 2 (stabilabb)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6400800" y="1554480"/>
            <a:ext cx="5303520" cy="23774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6583680" y="16916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FŐÉPÜLET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6583680" y="20116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UNI-NET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6583680" y="2651760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VTP Server: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MLSW_1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Jelszó (MD5):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CiscoUniVtp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Verzió: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6400800" y="4114800"/>
            <a:ext cx="5303520" cy="23774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6583680" y="42519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KÖNYVTÁR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6583680" y="457200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LIB-NET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6583680" y="5212080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VTP Server: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MLSW_21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Jelszó (MD5):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CiscoLibVtp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Verzió: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9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EtherChannel (LACP)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Sávszélesség-aggregáció és microsecond failover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914400" y="1828800"/>
            <a:ext cx="2286000" cy="109728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914400" y="18745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MLSW_1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914400" y="2240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Active mód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914400" y="25146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Gig1/0/2-3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8229600" y="1828800"/>
            <a:ext cx="2286000" cy="109728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8229600" y="18745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MLSW_2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8229600" y="2240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Passive mód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8229600" y="25146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Gig1/0/2-3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10"/>
          <p:cNvCxnSpPr/>
          <p:nvPr/>
        </p:nvCxnSpPr>
        <p:spPr>
          <a:xfrm>
            <a:off x="3200400" y="2194560"/>
            <a:ext cx="5029200" cy="0"/>
          </a:xfrm>
          <a:prstGeom prst="straightConnector1">
            <a:avLst/>
          </a:prstGeom>
          <a:noFill/>
          <a:ln cap="flat" cmpd="sng" w="508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10"/>
          <p:cNvCxnSpPr/>
          <p:nvPr/>
        </p:nvCxnSpPr>
        <p:spPr>
          <a:xfrm>
            <a:off x="3200400" y="2560320"/>
            <a:ext cx="5029200" cy="0"/>
          </a:xfrm>
          <a:prstGeom prst="straightConnector1">
            <a:avLst/>
          </a:prstGeom>
          <a:noFill/>
          <a:ln cap="flat" cmpd="sng" w="508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10"/>
          <p:cNvSpPr/>
          <p:nvPr/>
        </p:nvSpPr>
        <p:spPr>
          <a:xfrm>
            <a:off x="4846320" y="1371600"/>
            <a:ext cx="2468880" cy="4572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4846320" y="13716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Port-Channel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10"/>
          <p:cNvCxnSpPr/>
          <p:nvPr/>
        </p:nvCxnSpPr>
        <p:spPr>
          <a:xfrm>
            <a:off x="6080760" y="182880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E6394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20" name="Google Shape;320;p10"/>
          <p:cNvSpPr/>
          <p:nvPr/>
        </p:nvSpPr>
        <p:spPr>
          <a:xfrm>
            <a:off x="5212080" y="2926080"/>
            <a:ext cx="1828800" cy="5486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5212080" y="29260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 Gbps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457200" y="3931920"/>
            <a:ext cx="5577840" cy="24688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640080" y="40233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LACP - 802.3ad protokoll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777240" y="4434840"/>
            <a:ext cx="5120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Iparági szabvány protokoll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Active/Passive aszimmetrikus szereposztás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Hibamentes, szabályos csatornaépítés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Megelőzi a konfigurációs ütközéseket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6126480" y="3931920"/>
            <a:ext cx="5577840" cy="246888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6309360" y="40233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Microsecond Failover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6309360" y="4434840"/>
            <a:ext cx="5212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Ha az egyik fizikai </a:t>
            </a: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kábel</a:t>
            </a: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megsérül, a hálózat nem áll le. Az LACP a másodperc töredéke alatt, STP újraszámolás nélkül helyezi át a forgalmat — a kliensek számára a kapcsolat egyetlen pillanatra sem szakad meg.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10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1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HSRP — Router redundancia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Active/Active terheleselosztas virtuális IP-vel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457200" y="1554480"/>
            <a:ext cx="11277295" cy="6400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457200" y="155448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kliens csak EGY default gatewayt ismer. Ha az R1 meghibásodik, mindenki elveszti a kapcsolatot — kivéve, ha a két router egy közös virtuális IP-n osztozik.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457200" y="2468880"/>
            <a:ext cx="5486400" cy="274320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640080" y="2606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R1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2194560" y="2697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Aktív (Priority 110)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11"/>
          <p:cNvCxnSpPr/>
          <p:nvPr/>
        </p:nvCxnSpPr>
        <p:spPr>
          <a:xfrm>
            <a:off x="640080" y="3200400"/>
            <a:ext cx="512064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11"/>
          <p:cNvSpPr/>
          <p:nvPr/>
        </p:nvSpPr>
        <p:spPr>
          <a:xfrm>
            <a:off x="640080" y="32918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Elsodleges átjáró: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822960" y="356616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VLAN 10 (Tanárok)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VLAN 20 (Adminok)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VLAN 99 (Management)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6217920" y="2468880"/>
            <a:ext cx="5486400" cy="27432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6400800" y="2606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7955280" y="2697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Aktív (Priority 110)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11"/>
          <p:cNvCxnSpPr/>
          <p:nvPr/>
        </p:nvCxnSpPr>
        <p:spPr>
          <a:xfrm>
            <a:off x="6400800" y="3200400"/>
            <a:ext cx="512064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11"/>
          <p:cNvSpPr/>
          <p:nvPr/>
        </p:nvSpPr>
        <p:spPr>
          <a:xfrm>
            <a:off x="6400800" y="32918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Elsodleges átjáró: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6583680" y="356616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VLAN 30 (Diákok)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VLAN 50 (Szerverek)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(R1 csak Standby ezekhez)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457200" y="5394960"/>
            <a:ext cx="11277295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640080" y="54864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Preempt — automatikus visszavétel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Ha az R1 áramszünet után újraindul, felismeri, hogy magasabb a prioritása (110 vs 100), és visszaveszi az aktív szerepet az R2-től. Ezzel mindkét router CPU-ja és sávszélessége aktívan ki van használva.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11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2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STP — Spanning Tree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Rapid-PVST+: minden VLAN-nak saját fája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457200" y="1554480"/>
            <a:ext cx="11277295" cy="7772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Rapid-PVST+ (802.1w + Per-VLAN)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640080" y="1965960"/>
            <a:ext cx="109115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klasszikus STP 50 másodperces </a:t>
            </a:r>
            <a:r>
              <a:rPr i="1"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helyreállási</a:t>
            </a: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ideje helyett ezredmásodpercek. A Per-VLAN képesség lehetővé teszi a switchenkénti, VLAN-onkénti terheléselosztást.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457200" y="2606040"/>
            <a:ext cx="5577840" cy="310896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457200" y="2606040"/>
            <a:ext cx="5577840" cy="45720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457200" y="2606040"/>
            <a:ext cx="5577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MLSW_1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640080" y="32004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Primary Root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640080" y="352044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VLAN 30 (Diákok), VLAN 50 (Szerverek)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640080" y="402336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Secondary Root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640080" y="43434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VLAN 10 (Tanárok), VLAN 20 (Admin), VLAN 99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640080" y="502920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0F1B3C"/>
                </a:solidFill>
                <a:latin typeface="Calibri"/>
                <a:ea typeface="Calibri"/>
                <a:cs typeface="Calibri"/>
                <a:sym typeface="Calibri"/>
              </a:rPr>
              <a:t>=&gt; Diák-forgalom MLSW_1-en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6126480" y="2606040"/>
            <a:ext cx="5577840" cy="310896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6126480" y="2606040"/>
            <a:ext cx="5577840" cy="4572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6126480" y="2606040"/>
            <a:ext cx="5577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MLSW_2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6309360" y="32004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Primary Root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6309360" y="352044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VLAN 10, VLAN 20 (Admin), VLAN 99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6309360" y="402336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Secondary Root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6309360" y="43434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VLAN 30 (Diákok), VLAN 50 (Szerverek)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6309360" y="502920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0F1B3C"/>
                </a:solidFill>
                <a:latin typeface="Calibri"/>
                <a:ea typeface="Calibri"/>
                <a:cs typeface="Calibri"/>
                <a:sym typeface="Calibri"/>
              </a:rPr>
              <a:t>=&gt; Tanár/Admin-forgalom MLSW_2-n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457200" y="5897880"/>
            <a:ext cx="11277295" cy="50292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457200" y="5897880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EREDMÉNY: a forgalom kettéválik — mindkét MLS és mindkét uplink kábel aktívan dolgozik, nincs blokkolt redundáns link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12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3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DHCP — Címkiosztás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Két modell: szerver-alapú és router-alapú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457200" y="1554480"/>
            <a:ext cx="5669280" cy="4846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457200" y="1554480"/>
            <a:ext cx="5669280" cy="5486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1" name="Google Shape;40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6642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3"/>
          <p:cNvSpPr/>
          <p:nvPr/>
        </p:nvSpPr>
        <p:spPr>
          <a:xfrm>
            <a:off x="1097280" y="155448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FŐÉPÜLET — Dedikált DHCP szerver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640080" y="2240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B3C"/>
                </a:solidFill>
                <a:latin typeface="Calibri"/>
                <a:ea typeface="Calibri"/>
                <a:cs typeface="Calibri"/>
                <a:sym typeface="Calibri"/>
              </a:rPr>
              <a:t>Központosított Windows DHCP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640080" y="260604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Külön pool minden VLAN-nak (10, 20, 30). Központi naplózás és menedzsment.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640080" y="32918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B3C"/>
                </a:solidFill>
                <a:latin typeface="Calibri"/>
                <a:ea typeface="Calibri"/>
                <a:cs typeface="Calibri"/>
                <a:sym typeface="Calibri"/>
              </a:rPr>
              <a:t>IP Helper — DHCP Relay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640080" y="3657600"/>
            <a:ext cx="5303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DHCP-szerver külön VLAN-ban van. A R1/R2 routerek a VLAN-interfeszeken ip helper-address paranccsal továbbítják a kéréseket.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640080" y="4526280"/>
            <a:ext cx="5303520" cy="91440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822960" y="466344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ip helper-address 10.1.50.10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6309360" y="1554480"/>
            <a:ext cx="5394960" cy="4846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6309360" y="1554480"/>
            <a:ext cx="5394960" cy="5486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1" name="Google Shape;41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16642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3"/>
          <p:cNvSpPr/>
          <p:nvPr/>
        </p:nvSpPr>
        <p:spPr>
          <a:xfrm>
            <a:off x="6949440" y="155448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LABOR + KÖNYVTÁR — Router-alapú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6492240" y="2240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B3C"/>
                </a:solidFill>
                <a:latin typeface="Calibri"/>
                <a:ea typeface="Calibri"/>
                <a:cs typeface="Calibri"/>
                <a:sym typeface="Calibri"/>
              </a:rPr>
              <a:t>Helyi router (R31, R21) végzi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6492240" y="26060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Saját erőforrásokkal, fix kizárásokkal (gateway-ek, nyomtatók).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6492240" y="3291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B3C"/>
                </a:solidFill>
                <a:latin typeface="Calibri"/>
                <a:ea typeface="Calibri"/>
                <a:cs typeface="Calibri"/>
                <a:sym typeface="Calibri"/>
              </a:rPr>
              <a:t>DHCP Exclusions + Pool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6492240" y="3657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Az első 10 cím IP-cím ütközés elkerülése miatt fixre tartva.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6492240" y="4206240"/>
            <a:ext cx="5029200" cy="128016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6675120" y="4343400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ip dhcp excluded-address 10.3.30.1 10.3.30.10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ip dhcp pool STUDENTS_VLAN30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network 10.3.30.0 255.255.255.0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default-router 10.3.30.1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4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OSPF — Dinamikus routing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Háromszög topológia ASA1, R1 és R2 között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5029200" y="1554480"/>
            <a:ext cx="2103120" cy="9144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1" name="Google Shape;43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4"/>
          <p:cNvSpPr/>
          <p:nvPr/>
        </p:nvSpPr>
        <p:spPr>
          <a:xfrm>
            <a:off x="5669280" y="16916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ASA1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5120640" y="21031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nsolas"/>
              <a:buNone/>
            </a:pPr>
            <a:r>
              <a:rPr b="0" i="1" lang="en-US" sz="10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/30 tranzit linkek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1371600" y="3291840"/>
            <a:ext cx="2103120" cy="91440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5" name="Google Shape;43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4480" y="3429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4"/>
          <p:cNvSpPr/>
          <p:nvPr/>
        </p:nvSpPr>
        <p:spPr>
          <a:xfrm>
            <a:off x="2011680" y="34290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1371600" y="38404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onsolas"/>
              <a:buNone/>
            </a:pPr>
            <a:r>
              <a:rPr b="0" i="1" lang="en-US" sz="9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network 10.1.0.0 0.0.255.255 </a:t>
            </a:r>
            <a:br>
              <a:rPr b="0" i="1" lang="en-US" sz="9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9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area 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8686800" y="3291840"/>
            <a:ext cx="2103120" cy="91440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9" name="Google Shape;43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9680" y="3429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4"/>
          <p:cNvSpPr/>
          <p:nvPr/>
        </p:nvSpPr>
        <p:spPr>
          <a:xfrm>
            <a:off x="9326880" y="34290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8686800" y="38404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onsolas"/>
              <a:buNone/>
            </a:pPr>
            <a:r>
              <a:rPr b="0" i="1" lang="en-US" sz="9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network 10.1.0.0 0.0.255.255</a:t>
            </a:r>
            <a:br>
              <a:rPr b="0" i="1" lang="en-US" sz="9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9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area 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2" name="Google Shape;442;p14"/>
          <p:cNvCxnSpPr/>
          <p:nvPr/>
        </p:nvCxnSpPr>
        <p:spPr>
          <a:xfrm flipH="1" rot="10800000">
            <a:off x="2423160" y="2468880"/>
            <a:ext cx="3657600" cy="822960"/>
          </a:xfrm>
          <a:prstGeom prst="straightConnector1">
            <a:avLst/>
          </a:prstGeom>
          <a:noFill/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3" name="Google Shape;443;p14"/>
          <p:cNvCxnSpPr/>
          <p:nvPr/>
        </p:nvCxnSpPr>
        <p:spPr>
          <a:xfrm>
            <a:off x="6080760" y="2468880"/>
            <a:ext cx="3657600" cy="822960"/>
          </a:xfrm>
          <a:prstGeom prst="straightConnector1">
            <a:avLst/>
          </a:prstGeom>
          <a:noFill/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" name="Google Shape;444;p14"/>
          <p:cNvCxnSpPr/>
          <p:nvPr/>
        </p:nvCxnSpPr>
        <p:spPr>
          <a:xfrm>
            <a:off x="3474720" y="3749040"/>
            <a:ext cx="5212080" cy="0"/>
          </a:xfrm>
          <a:prstGeom prst="straightConnector1">
            <a:avLst/>
          </a:prstGeom>
          <a:noFill/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5" name="Google Shape;445;p14"/>
          <p:cNvSpPr/>
          <p:nvPr/>
        </p:nvSpPr>
        <p:spPr>
          <a:xfrm>
            <a:off x="457200" y="4572000"/>
            <a:ext cx="3749040" cy="18288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1965960" y="4709160"/>
            <a:ext cx="731520" cy="73152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7" name="Google Shape;44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30552" y="487375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4"/>
          <p:cNvSpPr/>
          <p:nvPr/>
        </p:nvSpPr>
        <p:spPr>
          <a:xfrm>
            <a:off x="640080" y="54864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B3C"/>
                </a:solidFill>
                <a:latin typeface="Calibri"/>
                <a:ea typeface="Calibri"/>
                <a:cs typeface="Calibri"/>
                <a:sym typeface="Calibri"/>
              </a:rPr>
              <a:t>Auto-discovery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685800" y="580644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Az ASA megtanulja az R1/R2-től a belső VLAN-ok elérhetőségét — nincs statikus route.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4343400" y="4572000"/>
            <a:ext cx="3749040" cy="18288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5852160" y="4709160"/>
            <a:ext cx="731520" cy="73152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2" name="Google Shape;45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16752" y="487375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4"/>
          <p:cNvSpPr/>
          <p:nvPr/>
        </p:nvSpPr>
        <p:spPr>
          <a:xfrm>
            <a:off x="4526280" y="54864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B3C"/>
                </a:solidFill>
                <a:latin typeface="Calibri"/>
                <a:ea typeface="Calibri"/>
                <a:cs typeface="Calibri"/>
                <a:sym typeface="Calibri"/>
              </a:rPr>
              <a:t>Failover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4572000" y="580644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 az ASA-R1 kapcsolat megszakad, az OSPF az R2-re irányít automatikusan, ms alatt.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8229600" y="4572000"/>
            <a:ext cx="3749040" cy="18288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9738360" y="4709160"/>
            <a:ext cx="731520" cy="73152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7" name="Google Shape;45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02952" y="487375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4"/>
          <p:cNvSpPr/>
          <p:nvPr/>
        </p:nvSpPr>
        <p:spPr>
          <a:xfrm>
            <a:off x="8412480" y="54864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B3C"/>
                </a:solidFill>
                <a:latin typeface="Calibri"/>
                <a:ea typeface="Calibri"/>
                <a:cs typeface="Calibri"/>
                <a:sym typeface="Calibri"/>
              </a:rPr>
              <a:t>Izoláció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8458200" y="580644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/30 maszk és passive-interface — csak a tranzit linken van OSPF, semmi más nem szól bele.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4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14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5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WAN — Főépület &lt;-&gt; Könyvtár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Dedikált pont-pont sötétszálas optikai link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457200" y="1828800"/>
            <a:ext cx="2560320" cy="164592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2" name="Google Shape;4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880" y="201168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5"/>
          <p:cNvSpPr/>
          <p:nvPr/>
        </p:nvSpPr>
        <p:spPr>
          <a:xfrm>
            <a:off x="457200" y="29260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Főépület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4023360" y="1828800"/>
            <a:ext cx="2560320" cy="164592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5" name="Google Shape;47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201168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5"/>
          <p:cNvSpPr/>
          <p:nvPr/>
        </p:nvSpPr>
        <p:spPr>
          <a:xfrm>
            <a:off x="4023360" y="29260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Könyvtár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p15"/>
          <p:cNvCxnSpPr/>
          <p:nvPr/>
        </p:nvCxnSpPr>
        <p:spPr>
          <a:xfrm>
            <a:off x="3017520" y="2651760"/>
            <a:ext cx="1005840" cy="0"/>
          </a:xfrm>
          <a:prstGeom prst="straightConnector1">
            <a:avLst/>
          </a:prstGeom>
          <a:noFill/>
          <a:ln cap="flat" cmpd="sng" w="635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p15"/>
          <p:cNvSpPr/>
          <p:nvPr/>
        </p:nvSpPr>
        <p:spPr>
          <a:xfrm>
            <a:off x="2651760" y="36576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Dark Fiber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2651760" y="39776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(földalatti optika)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457200" y="4572000"/>
            <a:ext cx="6126480" cy="17373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457200" y="4617720"/>
            <a:ext cx="6126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 Gbps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457200" y="5623560"/>
            <a:ext cx="6126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garantált sávszélesség, fizikailag zárt csatornán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6858000" y="15544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Miert nem VPN?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4" name="Google Shape;48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0" y="21488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5"/>
          <p:cNvSpPr/>
          <p:nvPr/>
        </p:nvSpPr>
        <p:spPr>
          <a:xfrm>
            <a:off x="7269480" y="2103120"/>
            <a:ext cx="4434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Privát fizikai kapcsolat — nem terheli a publikus internet sávszélességét.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6" name="Google Shape;48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0" y="29718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5"/>
          <p:cNvSpPr/>
          <p:nvPr/>
        </p:nvSpPr>
        <p:spPr>
          <a:xfrm>
            <a:off x="7269480" y="2926080"/>
            <a:ext cx="4434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Nincs költséges és lassú IPsec titkosítási overhead.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8" name="Google Shape;48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0" y="37947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5"/>
          <p:cNvSpPr/>
          <p:nvPr/>
        </p:nvSpPr>
        <p:spPr>
          <a:xfrm>
            <a:off x="7269480" y="3749040"/>
            <a:ext cx="4434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Maximális sávszélesség a könyvtári diákoknak és tanároknak.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0" name="Google Shape;49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0" y="46177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15"/>
          <p:cNvSpPr/>
          <p:nvPr/>
        </p:nvSpPr>
        <p:spPr>
          <a:xfrm>
            <a:off x="7269480" y="4572000"/>
            <a:ext cx="4434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belső szervereket nem kell kitenni a publikus internetnek.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2" name="Google Shape;49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0" y="54406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15"/>
          <p:cNvSpPr/>
          <p:nvPr/>
        </p:nvSpPr>
        <p:spPr>
          <a:xfrm>
            <a:off x="7269480" y="5394960"/>
            <a:ext cx="4434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két épület egységes, biztonságos Intranetként működik.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15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6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6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IPsec VPN — Labor &lt;-&gt; Főépület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AES titkosítás, két fázisos kézfogás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457200" y="1554480"/>
            <a:ext cx="11277295" cy="77724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6"/>
          <p:cNvSpPr/>
          <p:nvPr/>
        </p:nvSpPr>
        <p:spPr>
          <a:xfrm>
            <a:off x="457200" y="1554480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meglévő publikus internetet használjuk, de IPsec titkosítással áttörhetetlen virtuális magánvezetéket hozunk létre. Ugyanaz a biztonság, mint egy bérelt vonal — töredék áron.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457200" y="2560320"/>
            <a:ext cx="5577840" cy="228600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6"/>
          <p:cNvSpPr/>
          <p:nvPr/>
        </p:nvSpPr>
        <p:spPr>
          <a:xfrm>
            <a:off x="640080" y="2697480"/>
            <a:ext cx="640080" cy="640080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6"/>
          <p:cNvSpPr/>
          <p:nvPr/>
        </p:nvSpPr>
        <p:spPr>
          <a:xfrm>
            <a:off x="640080" y="26974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1417320" y="27432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Phase 1 — IKEv1 (ISAKMP)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1417320" y="31546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Menedzsment alagút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640080" y="3611880"/>
            <a:ext cx="5212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R31 és ASA1 kezet fognak. Ellenőrzik az AES, SHA, és cisco123 PSK egyezést. Ha minden stimmel — felépül a védőcső.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6126480" y="2560320"/>
            <a:ext cx="5577840" cy="22860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6"/>
          <p:cNvSpPr/>
          <p:nvPr/>
        </p:nvSpPr>
        <p:spPr>
          <a:xfrm>
            <a:off x="6309360" y="2697480"/>
            <a:ext cx="640080" cy="64008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6"/>
          <p:cNvSpPr/>
          <p:nvPr/>
        </p:nvSpPr>
        <p:spPr>
          <a:xfrm>
            <a:off x="6309360" y="26974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7086600" y="27432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Phase 2 — IPsec (Transform-Set)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7086600" y="31546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Adat alagút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6309360" y="3611880"/>
            <a:ext cx="5212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VPN-SET (esp-aes esp-sha-hmac). Az ESP titkositja az eredeti IP-címeket és a payloadot. Ez a valódi páncél a csomagokon.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457200" y="507492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B3C"/>
                </a:solidFill>
                <a:latin typeface="Calibri"/>
                <a:ea typeface="Calibri"/>
                <a:cs typeface="Calibri"/>
                <a:sym typeface="Calibri"/>
              </a:rPr>
              <a:t>Alkalmazott algoritmusok: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457200" y="5440680"/>
            <a:ext cx="2788920" cy="8686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6"/>
          <p:cNvSpPr/>
          <p:nvPr/>
        </p:nvSpPr>
        <p:spPr>
          <a:xfrm>
            <a:off x="457200" y="544068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AES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457200" y="5897880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3383280" y="5440680"/>
            <a:ext cx="2788920" cy="8686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6"/>
          <p:cNvSpPr/>
          <p:nvPr/>
        </p:nvSpPr>
        <p:spPr>
          <a:xfrm>
            <a:off x="3383280" y="544068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SHA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3383280" y="5897880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Hash / Integrity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6"/>
          <p:cNvSpPr/>
          <p:nvPr/>
        </p:nvSpPr>
        <p:spPr>
          <a:xfrm>
            <a:off x="6309360" y="5440680"/>
            <a:ext cx="2788920" cy="8686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6"/>
          <p:cNvSpPr/>
          <p:nvPr/>
        </p:nvSpPr>
        <p:spPr>
          <a:xfrm>
            <a:off x="6309360" y="544068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PSK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6"/>
          <p:cNvSpPr/>
          <p:nvPr/>
        </p:nvSpPr>
        <p:spPr>
          <a:xfrm>
            <a:off x="6309360" y="5897880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9235440" y="5440680"/>
            <a:ext cx="2788920" cy="8686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6"/>
          <p:cNvSpPr/>
          <p:nvPr/>
        </p:nvSpPr>
        <p:spPr>
          <a:xfrm>
            <a:off x="9235440" y="544068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DH-2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6"/>
          <p:cNvSpPr/>
          <p:nvPr/>
        </p:nvSpPr>
        <p:spPr>
          <a:xfrm>
            <a:off x="9235440" y="5897880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Key Exchange (1024-bit)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6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16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7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7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IPv6 Pilot Projekt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Dual-Stack DMZ Proof of Concept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457200" y="155448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Az iparági Best Practice szerint NEM hajtottunk végre azonnali, kockázatos protokoll-váltást a teljes belső LAN-on.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457200" y="2606040"/>
            <a:ext cx="5943600" cy="374904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7"/>
          <p:cNvSpPr/>
          <p:nvPr/>
        </p:nvSpPr>
        <p:spPr>
          <a:xfrm>
            <a:off x="640080" y="274320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Az IPv6 kísérleti fázis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640080" y="3200400"/>
            <a:ext cx="55778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+  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Csak a publikus DMZ zónában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+  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Server-PT WEB felkészült modern IPv6 kliensek kiszolgálására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+  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belső LAN és VPN forgalom IPv4-en marad, zavartalanul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+  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Sikeres teszt után zökkenőmentesen kiterjeszthető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6583680" y="1554480"/>
            <a:ext cx="5120640" cy="484632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7"/>
          <p:cNvSpPr/>
          <p:nvPr/>
        </p:nvSpPr>
        <p:spPr>
          <a:xfrm>
            <a:off x="6766560" y="17373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Konfigurált címek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6766560" y="2194560"/>
            <a:ext cx="4754880" cy="13716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7"/>
          <p:cNvSpPr/>
          <p:nvPr/>
        </p:nvSpPr>
        <p:spPr>
          <a:xfrm>
            <a:off x="6903720" y="22860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DMZ Hálózat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6903720" y="260604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2001:DB8:ACAD:10::/64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6903720" y="31089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/64 prefix — szabványos 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6766560" y="3703320"/>
            <a:ext cx="4754880" cy="12801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7"/>
          <p:cNvSpPr/>
          <p:nvPr/>
        </p:nvSpPr>
        <p:spPr>
          <a:xfrm>
            <a:off x="6903720" y="37947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ASA1 gig1/2 (DMZ átjáró)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6903720" y="41148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2001:DB8:ACAD:10::1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6766560" y="5120640"/>
            <a:ext cx="4754880" cy="1188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7"/>
          <p:cNvSpPr/>
          <p:nvPr/>
        </p:nvSpPr>
        <p:spPr>
          <a:xfrm>
            <a:off x="6903720" y="52120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DMZ Webszerver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7"/>
          <p:cNvSpPr/>
          <p:nvPr/>
        </p:nvSpPr>
        <p:spPr>
          <a:xfrm>
            <a:off x="6903720" y="55321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2001:DB8:ACAD:10::10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7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17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8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8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ACL — Hozzáférés-vezérlés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8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Három rétegű szabályozás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8"/>
          <p:cNvSpPr/>
          <p:nvPr/>
        </p:nvSpPr>
        <p:spPr>
          <a:xfrm>
            <a:off x="457200" y="1554480"/>
            <a:ext cx="457200" cy="1463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1" name="Google Shape;5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0116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18"/>
          <p:cNvSpPr/>
          <p:nvPr/>
        </p:nvSpPr>
        <p:spPr>
          <a:xfrm>
            <a:off x="914400" y="1554480"/>
            <a:ext cx="10820095" cy="146304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1097280" y="164592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VTY_SEC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8"/>
          <p:cNvSpPr/>
          <p:nvPr/>
        </p:nvSpPr>
        <p:spPr>
          <a:xfrm>
            <a:off x="1097280" y="20574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0F1B3C"/>
                </a:solidFill>
                <a:latin typeface="Calibri"/>
                <a:ea typeface="Calibri"/>
                <a:cs typeface="Calibri"/>
                <a:sym typeface="Calibri"/>
              </a:rPr>
              <a:t>Eszközmenedzsment-vedelem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8"/>
          <p:cNvSpPr/>
          <p:nvPr/>
        </p:nvSpPr>
        <p:spPr>
          <a:xfrm>
            <a:off x="5303520" y="1691640"/>
            <a:ext cx="643097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Standard ACL a VTY vonalakra. Csak a 10.1.20.0/24 (Adminok) hálózatbol indított SSH/Telnet engedélyezett.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8"/>
          <p:cNvSpPr/>
          <p:nvPr/>
        </p:nvSpPr>
        <p:spPr>
          <a:xfrm>
            <a:off x="457200" y="3154680"/>
            <a:ext cx="457200" cy="14630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7" name="Google Shape;5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3611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18"/>
          <p:cNvSpPr/>
          <p:nvPr/>
        </p:nvSpPr>
        <p:spPr>
          <a:xfrm>
            <a:off x="914400" y="3154680"/>
            <a:ext cx="10820095" cy="146304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8"/>
          <p:cNvSpPr/>
          <p:nvPr/>
        </p:nvSpPr>
        <p:spPr>
          <a:xfrm>
            <a:off x="1097280" y="324612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DIAK_KARANTEN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8"/>
          <p:cNvSpPr/>
          <p:nvPr/>
        </p:nvSpPr>
        <p:spPr>
          <a:xfrm>
            <a:off x="1097280" y="36576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Diák VLAN izolációja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8"/>
          <p:cNvSpPr/>
          <p:nvPr/>
        </p:nvSpPr>
        <p:spPr>
          <a:xfrm>
            <a:off x="5303520" y="3291840"/>
            <a:ext cx="643097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Extended ACL. Diákok elol tiltva: Tanári VLAN, Admin VLAN, SSH/Telnet barhova. Webes forgalom mehet — Least Privilege elv.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8"/>
          <p:cNvSpPr/>
          <p:nvPr/>
        </p:nvSpPr>
        <p:spPr>
          <a:xfrm>
            <a:off x="457200" y="4754880"/>
            <a:ext cx="457200" cy="146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3" name="Google Shape;58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5212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18"/>
          <p:cNvSpPr/>
          <p:nvPr/>
        </p:nvSpPr>
        <p:spPr>
          <a:xfrm>
            <a:off x="914400" y="4754880"/>
            <a:ext cx="10820095" cy="146304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8"/>
          <p:cNvSpPr/>
          <p:nvPr/>
        </p:nvSpPr>
        <p:spPr>
          <a:xfrm>
            <a:off x="1097280" y="484632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DMZ / IPV6_DMZ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8"/>
          <p:cNvSpPr/>
          <p:nvPr/>
        </p:nvSpPr>
        <p:spPr>
          <a:xfrm>
            <a:off x="1097280" y="5257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DMZ tűzfal-szűrés (ASA1)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8"/>
          <p:cNvSpPr/>
          <p:nvPr/>
        </p:nvSpPr>
        <p:spPr>
          <a:xfrm>
            <a:off x="5303520" y="4892040"/>
            <a:ext cx="643097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Internetről csak a 10.1.60.10 webszerver felé, csak 80/443 porton. Minden más kísérletet az ASA implicit eldob.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8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18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9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9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Switch Hardening — Port Security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9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Háromszintű profil az eszköz típusától függően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9"/>
          <p:cNvSpPr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MAC-flooding támadások elhárítása, illetéktelen eszközök kizárása. A büntetés (Violation Action) a porthoz csatlakozó eszkoz szerepétől függ.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9"/>
          <p:cNvSpPr/>
          <p:nvPr/>
        </p:nvSpPr>
        <p:spPr>
          <a:xfrm>
            <a:off x="457200" y="2194560"/>
            <a:ext cx="11277295" cy="45720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9"/>
          <p:cNvSpPr/>
          <p:nvPr/>
        </p:nvSpPr>
        <p:spPr>
          <a:xfrm>
            <a:off x="640080" y="21945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PC-k és Laptopok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9"/>
          <p:cNvSpPr/>
          <p:nvPr/>
        </p:nvSpPr>
        <p:spPr>
          <a:xfrm>
            <a:off x="5669280" y="2194560"/>
            <a:ext cx="60652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Automatikus tanulas, csak naplozas idegen eszkoz esetén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9"/>
          <p:cNvSpPr/>
          <p:nvPr/>
        </p:nvSpPr>
        <p:spPr>
          <a:xfrm>
            <a:off x="457200" y="2651760"/>
            <a:ext cx="11277295" cy="82296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9"/>
          <p:cNvSpPr/>
          <p:nvPr/>
        </p:nvSpPr>
        <p:spPr>
          <a:xfrm>
            <a:off x="548640" y="2697480"/>
            <a:ext cx="27736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Max MAC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9"/>
          <p:cNvSpPr/>
          <p:nvPr/>
        </p:nvSpPr>
        <p:spPr>
          <a:xfrm>
            <a:off x="548640" y="2926080"/>
            <a:ext cx="27736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9"/>
          <p:cNvSpPr/>
          <p:nvPr/>
        </p:nvSpPr>
        <p:spPr>
          <a:xfrm>
            <a:off x="3322244" y="2697480"/>
            <a:ext cx="27736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Tanulás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9"/>
          <p:cNvSpPr/>
          <p:nvPr/>
        </p:nvSpPr>
        <p:spPr>
          <a:xfrm>
            <a:off x="3322244" y="2926080"/>
            <a:ext cx="27736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Sticky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6095848" y="2697480"/>
            <a:ext cx="27736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Büntetés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9"/>
          <p:cNvSpPr/>
          <p:nvPr/>
        </p:nvSpPr>
        <p:spPr>
          <a:xfrm>
            <a:off x="6095848" y="2926080"/>
            <a:ext cx="27736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Restrict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9"/>
          <p:cNvSpPr/>
          <p:nvPr/>
        </p:nvSpPr>
        <p:spPr>
          <a:xfrm>
            <a:off x="8869451" y="2697480"/>
            <a:ext cx="27736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Öregedés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9"/>
          <p:cNvSpPr/>
          <p:nvPr/>
        </p:nvSpPr>
        <p:spPr>
          <a:xfrm>
            <a:off x="8869451" y="2926080"/>
            <a:ext cx="27736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120 perc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9"/>
          <p:cNvSpPr/>
          <p:nvPr/>
        </p:nvSpPr>
        <p:spPr>
          <a:xfrm>
            <a:off x="457200" y="3611880"/>
            <a:ext cx="11277295" cy="4572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9"/>
          <p:cNvSpPr/>
          <p:nvPr/>
        </p:nvSpPr>
        <p:spPr>
          <a:xfrm>
            <a:off x="640080" y="36118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Szerverek és Nyomtatók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9"/>
          <p:cNvSpPr/>
          <p:nvPr/>
        </p:nvSpPr>
        <p:spPr>
          <a:xfrm>
            <a:off x="5669280" y="3611880"/>
            <a:ext cx="60652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Maximális szigor — kihúzott szerver = letiltott 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9"/>
          <p:cNvSpPr/>
          <p:nvPr/>
        </p:nvSpPr>
        <p:spPr>
          <a:xfrm>
            <a:off x="457200" y="4069080"/>
            <a:ext cx="11277295" cy="82296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9"/>
          <p:cNvSpPr/>
          <p:nvPr/>
        </p:nvSpPr>
        <p:spPr>
          <a:xfrm>
            <a:off x="548640" y="4114800"/>
            <a:ext cx="27736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Max MAC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9"/>
          <p:cNvSpPr/>
          <p:nvPr/>
        </p:nvSpPr>
        <p:spPr>
          <a:xfrm>
            <a:off x="548640" y="4343400"/>
            <a:ext cx="27736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9"/>
          <p:cNvSpPr/>
          <p:nvPr/>
        </p:nvSpPr>
        <p:spPr>
          <a:xfrm>
            <a:off x="3322244" y="4114800"/>
            <a:ext cx="27736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Tanulás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9"/>
          <p:cNvSpPr/>
          <p:nvPr/>
        </p:nvSpPr>
        <p:spPr>
          <a:xfrm>
            <a:off x="3322244" y="4343400"/>
            <a:ext cx="27736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Statikus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9"/>
          <p:cNvSpPr/>
          <p:nvPr/>
        </p:nvSpPr>
        <p:spPr>
          <a:xfrm>
            <a:off x="6095848" y="4114800"/>
            <a:ext cx="27736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Büntetés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9"/>
          <p:cNvSpPr/>
          <p:nvPr/>
        </p:nvSpPr>
        <p:spPr>
          <a:xfrm>
            <a:off x="6095848" y="4343400"/>
            <a:ext cx="27736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Shutdown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9"/>
          <p:cNvSpPr/>
          <p:nvPr/>
        </p:nvSpPr>
        <p:spPr>
          <a:xfrm>
            <a:off x="8869451" y="4114800"/>
            <a:ext cx="27736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Öregedés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9"/>
          <p:cNvSpPr/>
          <p:nvPr/>
        </p:nvSpPr>
        <p:spPr>
          <a:xfrm>
            <a:off x="8869451" y="4343400"/>
            <a:ext cx="27736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Nincs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9"/>
          <p:cNvSpPr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9"/>
          <p:cNvSpPr/>
          <p:nvPr/>
        </p:nvSpPr>
        <p:spPr>
          <a:xfrm>
            <a:off x="640080" y="50292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Access Pointok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9"/>
          <p:cNvSpPr/>
          <p:nvPr/>
        </p:nvSpPr>
        <p:spPr>
          <a:xfrm>
            <a:off x="5669280" y="5029200"/>
            <a:ext cx="60652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Magas limit, tudatosan NEM shutdown — különben az AP egész cella elveszne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9"/>
          <p:cNvSpPr/>
          <p:nvPr/>
        </p:nvSpPr>
        <p:spPr>
          <a:xfrm>
            <a:off x="457200" y="5486400"/>
            <a:ext cx="11277295" cy="82296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9"/>
          <p:cNvSpPr/>
          <p:nvPr/>
        </p:nvSpPr>
        <p:spPr>
          <a:xfrm>
            <a:off x="548640" y="5532120"/>
            <a:ext cx="27736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Max MAC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9"/>
          <p:cNvSpPr/>
          <p:nvPr/>
        </p:nvSpPr>
        <p:spPr>
          <a:xfrm>
            <a:off x="548640" y="5760720"/>
            <a:ext cx="27736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9"/>
          <p:cNvSpPr/>
          <p:nvPr/>
        </p:nvSpPr>
        <p:spPr>
          <a:xfrm>
            <a:off x="3322244" y="5532120"/>
            <a:ext cx="27736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Tanulás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9"/>
          <p:cNvSpPr/>
          <p:nvPr/>
        </p:nvSpPr>
        <p:spPr>
          <a:xfrm>
            <a:off x="3322244" y="5760720"/>
            <a:ext cx="27736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Sticky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9"/>
          <p:cNvSpPr/>
          <p:nvPr/>
        </p:nvSpPr>
        <p:spPr>
          <a:xfrm>
            <a:off x="6095848" y="5532120"/>
            <a:ext cx="27736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Büntetés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9"/>
          <p:cNvSpPr/>
          <p:nvPr/>
        </p:nvSpPr>
        <p:spPr>
          <a:xfrm>
            <a:off x="6095848" y="5760720"/>
            <a:ext cx="27736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Restrict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9"/>
          <p:cNvSpPr/>
          <p:nvPr/>
        </p:nvSpPr>
        <p:spPr>
          <a:xfrm>
            <a:off x="8869451" y="5532120"/>
            <a:ext cx="27736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Öregedés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9"/>
          <p:cNvSpPr/>
          <p:nvPr/>
        </p:nvSpPr>
        <p:spPr>
          <a:xfrm>
            <a:off x="8869451" y="5760720"/>
            <a:ext cx="27736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120 perc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9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9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19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0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0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Switch Hardening — VLAN, DHCP, ARP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0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Layer 2 támadások elhárítása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0"/>
          <p:cNvSpPr/>
          <p:nvPr/>
        </p:nvSpPr>
        <p:spPr>
          <a:xfrm>
            <a:off x="457200" y="1554480"/>
            <a:ext cx="822960" cy="82296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8" name="Google Shape;6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6916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20"/>
          <p:cNvSpPr/>
          <p:nvPr/>
        </p:nvSpPr>
        <p:spPr>
          <a:xfrm>
            <a:off x="1371600" y="160020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VLAN Protection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0" name="Google Shape;650;p20"/>
          <p:cNvCxnSpPr/>
          <p:nvPr/>
        </p:nvCxnSpPr>
        <p:spPr>
          <a:xfrm>
            <a:off x="1371600" y="2011680"/>
            <a:ext cx="10058400" cy="0"/>
          </a:xfrm>
          <a:prstGeom prst="straightConnector1">
            <a:avLst/>
          </a:prstGeom>
          <a:noFill/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1" name="Google Shape;651;p20"/>
          <p:cNvSpPr/>
          <p:nvPr/>
        </p:nvSpPr>
        <p:spPr>
          <a:xfrm>
            <a:off x="1371600" y="21031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&gt; 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switchport nonegotiate — DTP letiltva, switch spoofing kizarva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0"/>
          <p:cNvSpPr/>
          <p:nvPr/>
        </p:nvSpPr>
        <p:spPr>
          <a:xfrm>
            <a:off x="6583680" y="21031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&gt; 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Native VLAN atallitasa 100-ra (alapértelmezett VLAN 1 helyett)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0"/>
          <p:cNvSpPr/>
          <p:nvPr/>
        </p:nvSpPr>
        <p:spPr>
          <a:xfrm>
            <a:off x="1371600" y="24688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&gt; 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Trunk allowed VLAN szűrés — csak engedélyezett VLAN-ok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0"/>
          <p:cNvSpPr/>
          <p:nvPr/>
        </p:nvSpPr>
        <p:spPr>
          <a:xfrm>
            <a:off x="6583680" y="24688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&gt; 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Nem használt portok: shutdown + VLAN 101 (TRASH karanten)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0"/>
          <p:cNvSpPr/>
          <p:nvPr/>
        </p:nvSpPr>
        <p:spPr>
          <a:xfrm>
            <a:off x="457200" y="3108960"/>
            <a:ext cx="822960" cy="82296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6" name="Google Shape;65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" y="32461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20"/>
          <p:cNvSpPr/>
          <p:nvPr/>
        </p:nvSpPr>
        <p:spPr>
          <a:xfrm>
            <a:off x="1371600" y="315468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DHCP Snooping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8" name="Google Shape;658;p20"/>
          <p:cNvCxnSpPr/>
          <p:nvPr/>
        </p:nvCxnSpPr>
        <p:spPr>
          <a:xfrm>
            <a:off x="1371600" y="3566160"/>
            <a:ext cx="10058400" cy="0"/>
          </a:xfrm>
          <a:prstGeom prst="straightConnector1">
            <a:avLst/>
          </a:prstGeom>
          <a:noFill/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9" name="Google Shape;659;p20"/>
          <p:cNvSpPr/>
          <p:nvPr/>
        </p:nvSpPr>
        <p:spPr>
          <a:xfrm>
            <a:off x="1371600" y="3657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&gt; 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Aktív minden belső VLAN-on (10, 20, 30, 50, 99)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0"/>
          <p:cNvSpPr/>
          <p:nvPr/>
        </p:nvSpPr>
        <p:spPr>
          <a:xfrm>
            <a:off x="6583680" y="3657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&gt; 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Trusted port: csak az uplink portok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0"/>
          <p:cNvSpPr/>
          <p:nvPr/>
        </p:nvSpPr>
        <p:spPr>
          <a:xfrm>
            <a:off x="1371600" y="40233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&gt; 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Untrusted (kliens) port: rate limit 15 csomag — Starvation vedelem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0"/>
          <p:cNvSpPr/>
          <p:nvPr/>
        </p:nvSpPr>
        <p:spPr>
          <a:xfrm>
            <a:off x="6583680" y="40233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&gt; 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Binding Database — alapja a DAI / IPSG vedelmeknek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0"/>
          <p:cNvSpPr/>
          <p:nvPr/>
        </p:nvSpPr>
        <p:spPr>
          <a:xfrm>
            <a:off x="457200" y="4663440"/>
            <a:ext cx="822960" cy="82296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4" name="Google Shape;66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" y="48006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20"/>
          <p:cNvSpPr/>
          <p:nvPr/>
        </p:nvSpPr>
        <p:spPr>
          <a:xfrm>
            <a:off x="1371600" y="470916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Dynamic ARP Inspection (DAI)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6" name="Google Shape;666;p20"/>
          <p:cNvCxnSpPr/>
          <p:nvPr/>
        </p:nvCxnSpPr>
        <p:spPr>
          <a:xfrm>
            <a:off x="1371600" y="5120640"/>
            <a:ext cx="10058400" cy="0"/>
          </a:xfrm>
          <a:prstGeom prst="straightConnector1">
            <a:avLst/>
          </a:prstGeom>
          <a:noFill/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7" name="Google Shape;667;p20"/>
          <p:cNvSpPr/>
          <p:nvPr/>
        </p:nvSpPr>
        <p:spPr>
          <a:xfrm>
            <a:off x="1371600" y="52120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&gt; 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ARP Spoofing / MitM támadások blokkolása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0"/>
          <p:cNvSpPr/>
          <p:nvPr/>
        </p:nvSpPr>
        <p:spPr>
          <a:xfrm>
            <a:off x="6583680" y="52120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&gt; 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validate src-mac dst-mac ip — szigorított csomagvizsgálat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0"/>
          <p:cNvSpPr/>
          <p:nvPr/>
        </p:nvSpPr>
        <p:spPr>
          <a:xfrm>
            <a:off x="1371600" y="5577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&gt; 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DHCP Snooping táblára támaszkodik (binding lookup)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0"/>
          <p:cNvSpPr/>
          <p:nvPr/>
        </p:nvSpPr>
        <p:spPr>
          <a:xfrm>
            <a:off x="6583680" y="5577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&gt; 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Eltérés esetén — drop + naplozas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0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0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20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1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1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Switch Hardening — STP &amp; IP Source Guard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1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Topológia és forrás-IP vedelem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1"/>
          <p:cNvSpPr/>
          <p:nvPr/>
        </p:nvSpPr>
        <p:spPr>
          <a:xfrm>
            <a:off x="457200" y="1554480"/>
            <a:ext cx="5669280" cy="484632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1"/>
          <p:cNvSpPr/>
          <p:nvPr/>
        </p:nvSpPr>
        <p:spPr>
          <a:xfrm>
            <a:off x="640080" y="169164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STP Hardening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4" name="Google Shape;684;p21"/>
          <p:cNvCxnSpPr/>
          <p:nvPr/>
        </p:nvCxnSpPr>
        <p:spPr>
          <a:xfrm>
            <a:off x="640080" y="2194560"/>
            <a:ext cx="5303520" cy="0"/>
          </a:xfrm>
          <a:prstGeom prst="straightConnector1">
            <a:avLst/>
          </a:prstGeom>
          <a:noFill/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5" name="Google Shape;685;p21"/>
          <p:cNvSpPr/>
          <p:nvPr/>
        </p:nvSpPr>
        <p:spPr>
          <a:xfrm>
            <a:off x="640080" y="23317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PortFast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1"/>
          <p:cNvSpPr/>
          <p:nvPr/>
        </p:nvSpPr>
        <p:spPr>
          <a:xfrm>
            <a:off x="640080" y="260604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Access portokon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1"/>
          <p:cNvSpPr/>
          <p:nvPr/>
        </p:nvSpPr>
        <p:spPr>
          <a:xfrm>
            <a:off x="640080" y="283464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Azonnali Forwarding allapot — DHCP gyors mukodeshez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1"/>
          <p:cNvSpPr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BPDU Guard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1"/>
          <p:cNvSpPr/>
          <p:nvPr/>
        </p:nvSpPr>
        <p:spPr>
          <a:xfrm>
            <a:off x="640080" y="356616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Access portokon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1"/>
          <p:cNvSpPr/>
          <p:nvPr/>
        </p:nvSpPr>
        <p:spPr>
          <a:xfrm>
            <a:off x="640080" y="379476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Idegen switch csatlakoztatása -&gt; err-disable letiltás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1"/>
          <p:cNvSpPr/>
          <p:nvPr/>
        </p:nvSpPr>
        <p:spPr>
          <a:xfrm>
            <a:off x="640080" y="425196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Root Guard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1"/>
          <p:cNvSpPr/>
          <p:nvPr/>
        </p:nvSpPr>
        <p:spPr>
          <a:xfrm>
            <a:off x="640080" y="452628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MLSW lefele portokon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1"/>
          <p:cNvSpPr/>
          <p:nvPr/>
        </p:nvSpPr>
        <p:spPr>
          <a:xfrm>
            <a:off x="640080" y="475488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Megakadályozza, hogy egy also switch átvegye a Root szerepet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1"/>
          <p:cNvSpPr/>
          <p:nvPr/>
        </p:nvSpPr>
        <p:spPr>
          <a:xfrm>
            <a:off x="640080" y="52120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Loop Guard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1"/>
          <p:cNvSpPr/>
          <p:nvPr/>
        </p:nvSpPr>
        <p:spPr>
          <a:xfrm>
            <a:off x="640080" y="548640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Trunk portokon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1"/>
          <p:cNvSpPr/>
          <p:nvPr/>
        </p:nvSpPr>
        <p:spPr>
          <a:xfrm>
            <a:off x="640080" y="571500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Egyirányúvá valt BPDU áramlás esetén — blokkolás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1"/>
          <p:cNvSpPr/>
          <p:nvPr/>
        </p:nvSpPr>
        <p:spPr>
          <a:xfrm>
            <a:off x="6309360" y="1554480"/>
            <a:ext cx="5394960" cy="4846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1"/>
          <p:cNvSpPr/>
          <p:nvPr/>
        </p:nvSpPr>
        <p:spPr>
          <a:xfrm>
            <a:off x="6309360" y="1554480"/>
            <a:ext cx="5394960" cy="4572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1"/>
          <p:cNvSpPr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IP Source Guard (IPSG)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1"/>
          <p:cNvSpPr/>
          <p:nvPr/>
        </p:nvSpPr>
        <p:spPr>
          <a:xfrm>
            <a:off x="6492240" y="21945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0F1B3C"/>
                </a:solidFill>
                <a:latin typeface="Consolas"/>
                <a:ea typeface="Consolas"/>
                <a:cs typeface="Consolas"/>
                <a:sym typeface="Consolas"/>
              </a:rPr>
              <a:t>ip verify source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1"/>
          <p:cNvSpPr/>
          <p:nvPr/>
        </p:nvSpPr>
        <p:spPr>
          <a:xfrm>
            <a:off x="6492240" y="26060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IP-cím hamisitas (Spoofing) ellen. Csak Untrusted (kliens) Access portokon.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1"/>
          <p:cNvSpPr/>
          <p:nvPr/>
        </p:nvSpPr>
        <p:spPr>
          <a:xfrm>
            <a:off x="6492240" y="32918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B3C"/>
                </a:solidFill>
                <a:latin typeface="Calibri"/>
                <a:ea typeface="Calibri"/>
                <a:cs typeface="Calibri"/>
                <a:sym typeface="Calibri"/>
              </a:rPr>
              <a:t>Hogyan működik?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1"/>
          <p:cNvSpPr/>
          <p:nvPr/>
        </p:nvSpPr>
        <p:spPr>
          <a:xfrm>
            <a:off x="6492240" y="3657600"/>
            <a:ext cx="5029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DHCP Snooping építi a Binding Database-t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Minden csomag forrás-IP-jet összeveti vele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Eltérés -&gt; hardveres szinten azonnal eldobja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1"/>
          <p:cNvSpPr/>
          <p:nvPr/>
        </p:nvSpPr>
        <p:spPr>
          <a:xfrm>
            <a:off x="6492240" y="5349240"/>
            <a:ext cx="5029200" cy="91440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1"/>
          <p:cNvSpPr/>
          <p:nvPr/>
        </p:nvSpPr>
        <p:spPr>
          <a:xfrm>
            <a:off x="6629400" y="544068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00"/>
              <a:buFont typeface="Consolas"/>
              <a:buNone/>
            </a:pPr>
            <a:r>
              <a:rPr b="0" i="1" lang="en-US" sz="10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// Példa: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Kliens 10.1.30.5-rol -&gt; 10.1.20.10-re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-&gt; </a:t>
            </a:r>
            <a:r>
              <a:rPr b="1" i="0" lang="en-US" sz="10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Eltérés a Binding-től -&gt; DROP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1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1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21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2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2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802.1X autentikáció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2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Port-szintű hitelesítés RADIUS szerverrel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2"/>
          <p:cNvSpPr/>
          <p:nvPr/>
        </p:nvSpPr>
        <p:spPr>
          <a:xfrm>
            <a:off x="640080" y="1554480"/>
            <a:ext cx="2423160" cy="182880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2"/>
          <p:cNvSpPr/>
          <p:nvPr/>
        </p:nvSpPr>
        <p:spPr>
          <a:xfrm>
            <a:off x="1417320" y="1691640"/>
            <a:ext cx="868680" cy="868680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9" name="Google Shape;7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8745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22"/>
          <p:cNvSpPr/>
          <p:nvPr/>
        </p:nvSpPr>
        <p:spPr>
          <a:xfrm>
            <a:off x="640080" y="26060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Supplicant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2"/>
          <p:cNvSpPr/>
          <p:nvPr/>
        </p:nvSpPr>
        <p:spPr>
          <a:xfrm>
            <a:off x="640080" y="29260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Kliens (PC)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2"/>
          <p:cNvSpPr/>
          <p:nvPr/>
        </p:nvSpPr>
        <p:spPr>
          <a:xfrm>
            <a:off x="4983480" y="1554480"/>
            <a:ext cx="2423160" cy="182880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2"/>
          <p:cNvSpPr/>
          <p:nvPr/>
        </p:nvSpPr>
        <p:spPr>
          <a:xfrm>
            <a:off x="5760720" y="1691640"/>
            <a:ext cx="868680" cy="868680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4" name="Google Shape;7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18745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22"/>
          <p:cNvSpPr/>
          <p:nvPr/>
        </p:nvSpPr>
        <p:spPr>
          <a:xfrm>
            <a:off x="4983480" y="26060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Authenticator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2"/>
          <p:cNvSpPr/>
          <p:nvPr/>
        </p:nvSpPr>
        <p:spPr>
          <a:xfrm>
            <a:off x="4983480" y="29260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Switch (SW_1)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2"/>
          <p:cNvSpPr/>
          <p:nvPr/>
        </p:nvSpPr>
        <p:spPr>
          <a:xfrm>
            <a:off x="9326880" y="1554480"/>
            <a:ext cx="2423160" cy="182880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2"/>
          <p:cNvSpPr/>
          <p:nvPr/>
        </p:nvSpPr>
        <p:spPr>
          <a:xfrm>
            <a:off x="10104120" y="1691640"/>
            <a:ext cx="868680" cy="868680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9" name="Google Shape;72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7000" y="18745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22"/>
          <p:cNvSpPr/>
          <p:nvPr/>
        </p:nvSpPr>
        <p:spPr>
          <a:xfrm>
            <a:off x="9326880" y="26060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Auth Server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2"/>
          <p:cNvSpPr/>
          <p:nvPr/>
        </p:nvSpPr>
        <p:spPr>
          <a:xfrm>
            <a:off x="9326880" y="29260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RADIUS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2" name="Google Shape;732;p22"/>
          <p:cNvCxnSpPr/>
          <p:nvPr/>
        </p:nvCxnSpPr>
        <p:spPr>
          <a:xfrm>
            <a:off x="3063240" y="2468880"/>
            <a:ext cx="1920240" cy="0"/>
          </a:xfrm>
          <a:prstGeom prst="straightConnector1">
            <a:avLst/>
          </a:prstGeom>
          <a:noFill/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3" name="Google Shape;733;p22"/>
          <p:cNvSpPr/>
          <p:nvPr/>
        </p:nvSpPr>
        <p:spPr>
          <a:xfrm>
            <a:off x="3063240" y="21945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EAPOL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4" name="Google Shape;734;p22"/>
          <p:cNvCxnSpPr/>
          <p:nvPr/>
        </p:nvCxnSpPr>
        <p:spPr>
          <a:xfrm>
            <a:off x="7406640" y="2468880"/>
            <a:ext cx="1920240" cy="0"/>
          </a:xfrm>
          <a:prstGeom prst="straightConnector1">
            <a:avLst/>
          </a:prstGeom>
          <a:noFill/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5" name="Google Shape;735;p22"/>
          <p:cNvSpPr/>
          <p:nvPr/>
        </p:nvSpPr>
        <p:spPr>
          <a:xfrm>
            <a:off x="7406640" y="21945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RADIUS UDP/1645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2"/>
          <p:cNvSpPr/>
          <p:nvPr/>
        </p:nvSpPr>
        <p:spPr>
          <a:xfrm>
            <a:off x="457200" y="3657600"/>
            <a:ext cx="5669280" cy="274320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2"/>
          <p:cNvSpPr/>
          <p:nvPr/>
        </p:nvSpPr>
        <p:spPr>
          <a:xfrm>
            <a:off x="594360" y="370332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00"/>
              <a:buFont typeface="Consolas"/>
              <a:buNone/>
            </a:pPr>
            <a:r>
              <a:rPr b="0" i="1" lang="en-US" sz="10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Cisco IOS konfiguracio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2"/>
          <p:cNvSpPr/>
          <p:nvPr/>
        </p:nvSpPr>
        <p:spPr>
          <a:xfrm>
            <a:off x="640080" y="3977640"/>
            <a:ext cx="5303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onsolas"/>
              <a:buNone/>
            </a:pPr>
            <a:r>
              <a:rPr b="0" i="1" lang="en-US" sz="11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# Globális AAA + RADIUS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aaa new-model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radius-server host 10.1.50.10 key cisco123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aaa authentication dot1x default group radius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dot1x system-auth-control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onsolas"/>
              <a:buNone/>
            </a:pPr>
            <a:r>
              <a:rPr b="0" i="1" lang="en-US" sz="11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# Interfész szint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interface range FastEthernet0/1 - 10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switchport mode access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authentication port-control auto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dot1x pae authenticator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2"/>
          <p:cNvSpPr/>
          <p:nvPr/>
        </p:nvSpPr>
        <p:spPr>
          <a:xfrm>
            <a:off x="6400800" y="36576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Paraméterek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40" name="Google Shape;740;p22"/>
          <p:cNvGraphicFramePr/>
          <p:nvPr/>
        </p:nvGraphicFramePr>
        <p:xfrm>
          <a:off x="6400800" y="411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{59D2CAB6-E251-46B3-85BC-45C6C2B9A858}</a:tableStyleId>
              </a:tblPr>
              <a:tblGrid>
                <a:gridCol w="2377450"/>
                <a:gridCol w="29260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Paraméter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Érték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C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RADIUS Port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UDP 1645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Protokoll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EAP over LAN (EAPOL)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Shared Secret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cisco123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MGMT VLAN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 (10.1.99.11)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port-control auto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41" name="Google Shape;741;p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2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2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22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3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3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SSH biztonságos hozzáférés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3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Telnet tiltása, RSA kulcs, helyi felhasználó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3"/>
          <p:cNvSpPr/>
          <p:nvPr/>
        </p:nvSpPr>
        <p:spPr>
          <a:xfrm>
            <a:off x="457200" y="1554480"/>
            <a:ext cx="566928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3"/>
          <p:cNvSpPr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E63946"/>
                </a:solidFill>
                <a:latin typeface="Georgia"/>
                <a:ea typeface="Georgia"/>
                <a:cs typeface="Georgia"/>
                <a:sym typeface="Georgia"/>
              </a:rPr>
              <a:t>A probléma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3"/>
          <p:cNvSpPr/>
          <p:nvPr/>
        </p:nvSpPr>
        <p:spPr>
          <a:xfrm>
            <a:off x="640080" y="2103120"/>
            <a:ext cx="5303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Telnet teljesen titkosítatlan — bárki, aki a vonalra hallgat, leolvassa a jelszót. A modern hálózati standardnek nincs helye az alapértelmezett Telnetnek.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3"/>
          <p:cNvSpPr/>
          <p:nvPr/>
        </p:nvSpPr>
        <p:spPr>
          <a:xfrm>
            <a:off x="640080" y="329184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-&gt;  Csak SSH (titkositott) megengedett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3"/>
          <p:cNvSpPr/>
          <p:nvPr/>
        </p:nvSpPr>
        <p:spPr>
          <a:xfrm>
            <a:off x="457200" y="4023360"/>
            <a:ext cx="5669280" cy="23774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3"/>
          <p:cNvSpPr/>
          <p:nvPr/>
        </p:nvSpPr>
        <p:spPr>
          <a:xfrm>
            <a:off x="640080" y="41148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Lépések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3"/>
          <p:cNvSpPr/>
          <p:nvPr/>
        </p:nvSpPr>
        <p:spPr>
          <a:xfrm>
            <a:off x="822960" y="45262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•  Domain név beállítása (kulcsgeneráláshoz)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3"/>
          <p:cNvSpPr/>
          <p:nvPr/>
        </p:nvSpPr>
        <p:spPr>
          <a:xfrm>
            <a:off x="822960" y="489204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•  RSA kulcs generálása — legalább 1024 bit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3"/>
          <p:cNvSpPr/>
          <p:nvPr/>
        </p:nvSpPr>
        <p:spPr>
          <a:xfrm>
            <a:off x="822960" y="525780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•  Helyi felhasználó létrehozása (admin)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3"/>
          <p:cNvSpPr/>
          <p:nvPr/>
        </p:nvSpPr>
        <p:spPr>
          <a:xfrm>
            <a:off x="822960" y="562356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•  VTY vonalon csak SSH transport 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3"/>
          <p:cNvSpPr/>
          <p:nvPr/>
        </p:nvSpPr>
        <p:spPr>
          <a:xfrm>
            <a:off x="822960" y="59893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•  Lokalis hitelesítés (login local)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3"/>
          <p:cNvSpPr/>
          <p:nvPr/>
        </p:nvSpPr>
        <p:spPr>
          <a:xfrm>
            <a:off x="6400800" y="1554480"/>
            <a:ext cx="5303520" cy="484632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3"/>
          <p:cNvSpPr/>
          <p:nvPr/>
        </p:nvSpPr>
        <p:spPr>
          <a:xfrm>
            <a:off x="6537960" y="16002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00"/>
              <a:buFont typeface="Consolas"/>
              <a:buNone/>
            </a:pPr>
            <a:r>
              <a:rPr b="0" i="1" lang="en-US" sz="10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Cisco IOS — SSH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3"/>
          <p:cNvSpPr/>
          <p:nvPr/>
        </p:nvSpPr>
        <p:spPr>
          <a:xfrm>
            <a:off x="6583680" y="1874520"/>
            <a:ext cx="493776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SW_1(config)# ip domain-name egyetem.hu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SW_1(config)# crypto key generate rsa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onsolas"/>
              <a:buNone/>
            </a:pPr>
            <a:r>
              <a:rPr b="0" i="1" lang="en-US" sz="11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  &gt; Choose the size: 1024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SW_1(config)# username admin secret admin123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onsolas"/>
              <a:buNone/>
            </a:pPr>
            <a:r>
              <a:rPr b="0" i="1" lang="en-US" sz="11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# Csak SSH a tavoli vonalakon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SW_1(config)# line vty 0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SW_1(config-line)# transport input ssh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SW_1(config-line)# login local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3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3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23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24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4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Hálózatprogramozas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4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 + Netmiko a jelszókezelés automatizációjahoz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4"/>
          <p:cNvSpPr/>
          <p:nvPr/>
        </p:nvSpPr>
        <p:spPr>
          <a:xfrm>
            <a:off x="457200" y="1554480"/>
            <a:ext cx="5669280" cy="219456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8" name="Google Shape;77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6916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24"/>
          <p:cNvSpPr/>
          <p:nvPr/>
        </p:nvSpPr>
        <p:spPr>
          <a:xfrm>
            <a:off x="1463040" y="16916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Cél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4"/>
          <p:cNvSpPr/>
          <p:nvPr/>
        </p:nvSpPr>
        <p:spPr>
          <a:xfrm>
            <a:off x="1463040" y="210312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manuális jelszókezelés kockázatos és időigényes. Python szkripttel automatizáltuk a Cisco eszközök enable secret rendszeres frissítését.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4"/>
          <p:cNvSpPr/>
          <p:nvPr/>
        </p:nvSpPr>
        <p:spPr>
          <a:xfrm>
            <a:off x="640080" y="3108960"/>
            <a:ext cx="5394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-&gt;  Erős, véletlen jelszó • Audit log • SSHv2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4"/>
          <p:cNvSpPr/>
          <p:nvPr/>
        </p:nvSpPr>
        <p:spPr>
          <a:xfrm>
            <a:off x="457200" y="3931920"/>
            <a:ext cx="5669280" cy="246888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4"/>
          <p:cNvSpPr/>
          <p:nvPr/>
        </p:nvSpPr>
        <p:spPr>
          <a:xfrm>
            <a:off x="640080" y="402336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Szkript fő feladatai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4"/>
          <p:cNvSpPr/>
          <p:nvPr/>
        </p:nvSpPr>
        <p:spPr>
          <a:xfrm>
            <a:off x="777240" y="4434840"/>
            <a:ext cx="411480" cy="411480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4"/>
          <p:cNvSpPr/>
          <p:nvPr/>
        </p:nvSpPr>
        <p:spPr>
          <a:xfrm>
            <a:off x="777240" y="44348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4"/>
          <p:cNvSpPr/>
          <p:nvPr/>
        </p:nvSpPr>
        <p:spPr>
          <a:xfrm>
            <a:off x="1325880" y="44805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SSHv2 kapcsolat — port 22, Netmiko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4"/>
          <p:cNvSpPr/>
          <p:nvPr/>
        </p:nvSpPr>
        <p:spPr>
          <a:xfrm>
            <a:off x="777240" y="4892040"/>
            <a:ext cx="411480" cy="411480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4"/>
          <p:cNvSpPr/>
          <p:nvPr/>
        </p:nvSpPr>
        <p:spPr>
          <a:xfrm>
            <a:off x="777240" y="4892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4"/>
          <p:cNvSpPr/>
          <p:nvPr/>
        </p:nvSpPr>
        <p:spPr>
          <a:xfrm>
            <a:off x="1325880" y="49377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Erős, random enable secret generálása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4"/>
          <p:cNvSpPr/>
          <p:nvPr/>
        </p:nvSpPr>
        <p:spPr>
          <a:xfrm>
            <a:off x="777240" y="5349240"/>
            <a:ext cx="411480" cy="411480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4"/>
          <p:cNvSpPr/>
          <p:nvPr/>
        </p:nvSpPr>
        <p:spPr>
          <a:xfrm>
            <a:off x="777240" y="5349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4"/>
          <p:cNvSpPr/>
          <p:nvPr/>
        </p:nvSpPr>
        <p:spPr>
          <a:xfrm>
            <a:off x="1325880" y="53949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Konfiguráció módosítása + write memory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4"/>
          <p:cNvSpPr/>
          <p:nvPr/>
        </p:nvSpPr>
        <p:spPr>
          <a:xfrm>
            <a:off x="777240" y="5806440"/>
            <a:ext cx="411480" cy="411480"/>
          </a:xfrm>
          <a:prstGeom prst="ellipse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4"/>
          <p:cNvSpPr/>
          <p:nvPr/>
        </p:nvSpPr>
        <p:spPr>
          <a:xfrm>
            <a:off x="777240" y="58064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4"/>
          <p:cNvSpPr/>
          <p:nvPr/>
        </p:nvSpPr>
        <p:spPr>
          <a:xfrm>
            <a:off x="1325880" y="58521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Naplózás: router_passwords_log.txt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4"/>
          <p:cNvSpPr/>
          <p:nvPr/>
        </p:nvSpPr>
        <p:spPr>
          <a:xfrm>
            <a:off x="6400800" y="1554480"/>
            <a:ext cx="5303520" cy="484632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4"/>
          <p:cNvSpPr/>
          <p:nvPr/>
        </p:nvSpPr>
        <p:spPr>
          <a:xfrm>
            <a:off x="6583680" y="169164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00"/>
              <a:buFont typeface="Consolas"/>
              <a:buNone/>
            </a:pPr>
            <a:r>
              <a:rPr b="0" i="1" lang="en-US" sz="10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[ Konzol kimenet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4"/>
          <p:cNvSpPr/>
          <p:nvPr/>
        </p:nvSpPr>
        <p:spPr>
          <a:xfrm>
            <a:off x="6583680" y="2103120"/>
            <a:ext cx="49377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[2026-04-28 12:46:29]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Csatlakozás: 10.1.30.1...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[+] Sikeres SSH kapcsolat és Enable mód!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[*] Új 'enable secret' jelszó beállítása...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[*] Konfiguráció mentése (write memory)...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[+] Hálózati muvelet sikeresen befejeződött!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[!] Új jelszó mentve a router_passwords_log.txt-be.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9" name="Google Shape;799;p24"/>
          <p:cNvCxnSpPr/>
          <p:nvPr/>
        </p:nvCxnSpPr>
        <p:spPr>
          <a:xfrm>
            <a:off x="6583680" y="4526280"/>
            <a:ext cx="4937760" cy="0"/>
          </a:xfrm>
          <a:prstGeom prst="straightConnector1">
            <a:avLst/>
          </a:prstGeom>
          <a:noFill/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0" name="Google Shape;800;p24"/>
          <p:cNvSpPr/>
          <p:nvPr/>
        </p:nvSpPr>
        <p:spPr>
          <a:xfrm>
            <a:off x="6583680" y="46177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00"/>
              <a:buFont typeface="Consolas"/>
              <a:buNone/>
            </a:pPr>
            <a:r>
              <a:rPr b="0" i="1" lang="en-US" sz="10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// router_passwords_log.txt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4"/>
          <p:cNvSpPr/>
          <p:nvPr/>
        </p:nvSpPr>
        <p:spPr>
          <a:xfrm>
            <a:off x="6583680" y="4937760"/>
            <a:ext cx="4937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[12:45:21] IP:10.1.30.1 | Új Secret: OfLM3EuDHhozbl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[12:45:53] IP:10.1.30.1 | Új Secret: $Jw3*3sC344ewp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[12:46:29] IP:10.1.30.1 | Új Secret: KOye9x@0tM#Ixb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4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4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24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25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25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Windows Server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5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Active Directory, DHCP, GPO és Backup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5"/>
          <p:cNvSpPr/>
          <p:nvPr/>
        </p:nvSpPr>
        <p:spPr>
          <a:xfrm>
            <a:off x="457200" y="1554480"/>
            <a:ext cx="3822192" cy="23317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5"/>
          <p:cNvSpPr/>
          <p:nvPr/>
        </p:nvSpPr>
        <p:spPr>
          <a:xfrm>
            <a:off x="457200" y="1554480"/>
            <a:ext cx="109728" cy="233172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5"/>
          <p:cNvSpPr/>
          <p:nvPr/>
        </p:nvSpPr>
        <p:spPr>
          <a:xfrm>
            <a:off x="731520" y="1783080"/>
            <a:ext cx="640080" cy="64008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6" name="Google Shape;81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920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25"/>
          <p:cNvSpPr/>
          <p:nvPr/>
        </p:nvSpPr>
        <p:spPr>
          <a:xfrm>
            <a:off x="1508760" y="1828800"/>
            <a:ext cx="2633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DHCP Server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5"/>
          <p:cNvSpPr/>
          <p:nvPr/>
        </p:nvSpPr>
        <p:spPr>
          <a:xfrm>
            <a:off x="731520" y="2560320"/>
            <a:ext cx="336499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Külön pool minden VLAN tartománynak (10, 20, 30). Központi naplózás, IP Helper Relay-en keresztül.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5"/>
          <p:cNvSpPr/>
          <p:nvPr/>
        </p:nvSpPr>
        <p:spPr>
          <a:xfrm>
            <a:off x="4416552" y="1554480"/>
            <a:ext cx="3822192" cy="23317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5"/>
          <p:cNvSpPr/>
          <p:nvPr/>
        </p:nvSpPr>
        <p:spPr>
          <a:xfrm>
            <a:off x="4416552" y="1554480"/>
            <a:ext cx="109728" cy="233172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25"/>
          <p:cNvSpPr/>
          <p:nvPr/>
        </p:nvSpPr>
        <p:spPr>
          <a:xfrm>
            <a:off x="4690872" y="1783080"/>
            <a:ext cx="640080" cy="64008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2" name="Google Shape;82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1920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25"/>
          <p:cNvSpPr/>
          <p:nvPr/>
        </p:nvSpPr>
        <p:spPr>
          <a:xfrm>
            <a:off x="5468112" y="1828800"/>
            <a:ext cx="2633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Active Directory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5"/>
          <p:cNvSpPr/>
          <p:nvPr/>
        </p:nvSpPr>
        <p:spPr>
          <a:xfrm>
            <a:off x="4690872" y="2560320"/>
            <a:ext cx="336499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Felhasználói fiókok jogosultsági csoportokba sorolva. Tartományba léptetett kliensgépek.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5"/>
          <p:cNvSpPr/>
          <p:nvPr/>
        </p:nvSpPr>
        <p:spPr>
          <a:xfrm>
            <a:off x="8375904" y="1554480"/>
            <a:ext cx="3822192" cy="23317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5"/>
          <p:cNvSpPr/>
          <p:nvPr/>
        </p:nvSpPr>
        <p:spPr>
          <a:xfrm>
            <a:off x="8375904" y="1554480"/>
            <a:ext cx="109728" cy="233172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5"/>
          <p:cNvSpPr/>
          <p:nvPr/>
        </p:nvSpPr>
        <p:spPr>
          <a:xfrm>
            <a:off x="8650224" y="1783080"/>
            <a:ext cx="640080" cy="64008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8" name="Google Shape;82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87384" y="1920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25"/>
          <p:cNvSpPr/>
          <p:nvPr/>
        </p:nvSpPr>
        <p:spPr>
          <a:xfrm>
            <a:off x="9427464" y="1828800"/>
            <a:ext cx="2633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Bejelentkezési idő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5"/>
          <p:cNvSpPr/>
          <p:nvPr/>
        </p:nvSpPr>
        <p:spPr>
          <a:xfrm>
            <a:off x="8650224" y="2560320"/>
            <a:ext cx="336499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Diák/tanár hozzáférés 8:00-16:00 között. Adminok 24/7. Időablakon kívül belépés letiltva.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5"/>
          <p:cNvSpPr/>
          <p:nvPr/>
        </p:nvSpPr>
        <p:spPr>
          <a:xfrm>
            <a:off x="457200" y="4050792"/>
            <a:ext cx="3822192" cy="23317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5"/>
          <p:cNvSpPr/>
          <p:nvPr/>
        </p:nvSpPr>
        <p:spPr>
          <a:xfrm>
            <a:off x="457200" y="4050792"/>
            <a:ext cx="109728" cy="233172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25"/>
          <p:cNvSpPr/>
          <p:nvPr/>
        </p:nvSpPr>
        <p:spPr>
          <a:xfrm>
            <a:off x="731520" y="4279392"/>
            <a:ext cx="640080" cy="64008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4" name="Google Shape;83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680" y="44165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25"/>
          <p:cNvSpPr/>
          <p:nvPr/>
        </p:nvSpPr>
        <p:spPr>
          <a:xfrm>
            <a:off x="1508760" y="4325112"/>
            <a:ext cx="2633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Fájl megosztás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5"/>
          <p:cNvSpPr/>
          <p:nvPr/>
        </p:nvSpPr>
        <p:spPr>
          <a:xfrm>
            <a:off x="731520" y="5056632"/>
            <a:ext cx="336499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Tanári mappa: csak tanárok írhatnak/olvashatnak. Feladatok: tanárok írnak, diákok csak olvasnak.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5"/>
          <p:cNvSpPr/>
          <p:nvPr/>
        </p:nvSpPr>
        <p:spPr>
          <a:xfrm>
            <a:off x="4416552" y="4050792"/>
            <a:ext cx="3822192" cy="23317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5"/>
          <p:cNvSpPr/>
          <p:nvPr/>
        </p:nvSpPr>
        <p:spPr>
          <a:xfrm>
            <a:off x="4416552" y="4050792"/>
            <a:ext cx="109728" cy="233172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25"/>
          <p:cNvSpPr/>
          <p:nvPr/>
        </p:nvSpPr>
        <p:spPr>
          <a:xfrm>
            <a:off x="4690872" y="4279392"/>
            <a:ext cx="640080" cy="64008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0" name="Google Shape;84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8032" y="44165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25"/>
          <p:cNvSpPr/>
          <p:nvPr/>
        </p:nvSpPr>
        <p:spPr>
          <a:xfrm>
            <a:off x="5468112" y="4325112"/>
            <a:ext cx="2633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GPO szoftvertelepítés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5"/>
          <p:cNvSpPr/>
          <p:nvPr/>
        </p:nvSpPr>
        <p:spPr>
          <a:xfrm>
            <a:off x="4690872" y="5056632"/>
            <a:ext cx="336499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.msi csomag UNC-elerési úton. Computer Configuration -&gt; Software Installation -&gt; Assigned.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5"/>
          <p:cNvSpPr/>
          <p:nvPr/>
        </p:nvSpPr>
        <p:spPr>
          <a:xfrm>
            <a:off x="8375904" y="4050792"/>
            <a:ext cx="3822192" cy="23317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5"/>
          <p:cNvSpPr/>
          <p:nvPr/>
        </p:nvSpPr>
        <p:spPr>
          <a:xfrm>
            <a:off x="8375904" y="4050792"/>
            <a:ext cx="109728" cy="233172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25"/>
          <p:cNvSpPr/>
          <p:nvPr/>
        </p:nvSpPr>
        <p:spPr>
          <a:xfrm>
            <a:off x="8650224" y="4279392"/>
            <a:ext cx="640080" cy="640080"/>
          </a:xfrm>
          <a:prstGeom prst="ellipse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6" name="Google Shape;846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87384" y="44165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25"/>
          <p:cNvSpPr/>
          <p:nvPr/>
        </p:nvSpPr>
        <p:spPr>
          <a:xfrm>
            <a:off x="9427464" y="4325112"/>
            <a:ext cx="2633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Automatikus mentés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5"/>
          <p:cNvSpPr/>
          <p:nvPr/>
        </p:nvSpPr>
        <p:spPr>
          <a:xfrm>
            <a:off x="8650224" y="5056632"/>
            <a:ext cx="336499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Dedikált 'B' (Backup) meghajtó. Windows Server Backup ütemezett mentésekkel: rendszerállapot + AD + fájlok.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25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5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25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26"/>
          <p:cNvSpPr/>
          <p:nvPr/>
        </p:nvSpPr>
        <p:spPr>
          <a:xfrm>
            <a:off x="0" y="457200"/>
            <a:ext cx="164592" cy="7772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6"/>
          <p:cNvSpPr/>
          <p:nvPr/>
        </p:nvSpPr>
        <p:spPr>
          <a:xfrm>
            <a:off x="457200" y="41148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Linux Server (Ubuntu 24.04 LTS)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6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Apache2 webszerver a DMZ zónában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6"/>
          <p:cNvSpPr/>
          <p:nvPr/>
        </p:nvSpPr>
        <p:spPr>
          <a:xfrm>
            <a:off x="457200" y="1554480"/>
            <a:ext cx="5669280" cy="484632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1" name="Google Shape;86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7373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26"/>
          <p:cNvSpPr/>
          <p:nvPr/>
        </p:nvSpPr>
        <p:spPr>
          <a:xfrm>
            <a:off x="1325880" y="178308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Ubuntu Server 24.04 LTS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6"/>
          <p:cNvSpPr/>
          <p:nvPr/>
        </p:nvSpPr>
        <p:spPr>
          <a:xfrm>
            <a:off x="640080" y="233172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CLI telepítés • Nincs grafikus felület • Stabil LTS verzió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6"/>
          <p:cNvSpPr/>
          <p:nvPr/>
        </p:nvSpPr>
        <p:spPr>
          <a:xfrm>
            <a:off x="640080" y="2788920"/>
            <a:ext cx="5303520" cy="17373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6"/>
          <p:cNvSpPr/>
          <p:nvPr/>
        </p:nvSpPr>
        <p:spPr>
          <a:xfrm>
            <a:off x="777240" y="28803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Netplan hálózati konfigur</a:t>
            </a:r>
            <a:r>
              <a:rPr b="1" lang="en-US" sz="12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á</a:t>
            </a: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ci</a:t>
            </a:r>
            <a:r>
              <a:rPr b="1" lang="en-US" sz="12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6"/>
          <p:cNvSpPr/>
          <p:nvPr/>
        </p:nvSpPr>
        <p:spPr>
          <a:xfrm>
            <a:off x="777240" y="3200400"/>
            <a:ext cx="5029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Interfész:  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ens33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Statikus IP: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10.1.60.10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Gateway:    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10.1.60.1 (ASA)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DNS:        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8.8.8.8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6"/>
          <p:cNvSpPr/>
          <p:nvPr/>
        </p:nvSpPr>
        <p:spPr>
          <a:xfrm>
            <a:off x="640080" y="466344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Apache/2.4 webkiszolgáló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6"/>
          <p:cNvSpPr/>
          <p:nvPr/>
        </p:nvSpPr>
        <p:spPr>
          <a:xfrm>
            <a:off x="640080" y="5074920"/>
            <a:ext cx="5394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+  </a:t>
            </a: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Egyedi index.html az egyetemnek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+  </a:t>
            </a: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Virtual Host </a:t>
            </a: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config</a:t>
            </a: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(vizsga.conf)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+  </a:t>
            </a: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Mind 80, mind 443 porton elérhető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6"/>
          <p:cNvSpPr/>
          <p:nvPr/>
        </p:nvSpPr>
        <p:spPr>
          <a:xfrm>
            <a:off x="6309360" y="1554480"/>
            <a:ext cx="5394960" cy="4846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6"/>
          <p:cNvSpPr/>
          <p:nvPr/>
        </p:nvSpPr>
        <p:spPr>
          <a:xfrm>
            <a:off x="6309360" y="1554480"/>
            <a:ext cx="5394960" cy="5486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1" name="Google Shape;87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16642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26"/>
          <p:cNvSpPr/>
          <p:nvPr/>
        </p:nvSpPr>
        <p:spPr>
          <a:xfrm>
            <a:off x="6949440" y="155448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HTTPS / SSL Titkosítás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6"/>
          <p:cNvSpPr/>
          <p:nvPr/>
        </p:nvSpPr>
        <p:spPr>
          <a:xfrm>
            <a:off x="6492240" y="22860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Tanúsítvány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6"/>
          <p:cNvSpPr/>
          <p:nvPr/>
        </p:nvSpPr>
        <p:spPr>
          <a:xfrm>
            <a:off x="6492240" y="269748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OpenSSL self-signed tanúsítvány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2048 bites RSA kulcs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365 napos érvényesség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6"/>
          <p:cNvSpPr/>
          <p:nvPr/>
        </p:nvSpPr>
        <p:spPr>
          <a:xfrm>
            <a:off x="6492240" y="4114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C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F1B3C"/>
                </a:solidFill>
                <a:latin typeface="Georgia"/>
                <a:ea typeface="Georgia"/>
                <a:cs typeface="Georgia"/>
                <a:sym typeface="Georgia"/>
              </a:rPr>
              <a:t>SSL modul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6"/>
          <p:cNvSpPr/>
          <p:nvPr/>
        </p:nvSpPr>
        <p:spPr>
          <a:xfrm>
            <a:off x="6492240" y="452628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Aktívált Apache ssl kiterjesztés. Dual VirtualHost (*:80 + *:443) — minden kérés titkosítva érkezhet.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6"/>
          <p:cNvSpPr/>
          <p:nvPr/>
        </p:nvSpPr>
        <p:spPr>
          <a:xfrm>
            <a:off x="6492240" y="5532120"/>
            <a:ext cx="5029200" cy="77724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6"/>
          <p:cNvSpPr/>
          <p:nvPr/>
        </p:nvSpPr>
        <p:spPr>
          <a:xfrm>
            <a:off x="6629400" y="557784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sudo a2enmod ssl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6"/>
          <p:cNvSpPr/>
          <p:nvPr/>
        </p:nvSpPr>
        <p:spPr>
          <a:xfrm>
            <a:off x="6629400" y="585216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sudo a2ensite vizsga.conf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6"/>
          <p:cNvSpPr/>
          <p:nvPr/>
        </p:nvSpPr>
        <p:spPr>
          <a:xfrm>
            <a:off x="6629400" y="612648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sudo systemctl restart apache2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C"/>
          </a:solidFill>
          <a:ln cap="flat" cmpd="sng" w="12700">
            <a:solidFill>
              <a:srgbClr val="0F1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26"/>
          <p:cNvSpPr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Alkalmazás-üzemeltető Technikus  •  Vizsgaremek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6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26 / 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3C"/>
        </a:solidFill>
      </p:bgPr>
    </p:bg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28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28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E2761">
              <a:alpha val="50196"/>
            </a:srgbClr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28"/>
          <p:cNvSpPr/>
          <p:nvPr/>
        </p:nvSpPr>
        <p:spPr>
          <a:xfrm>
            <a:off x="9905695" y="4572000"/>
            <a:ext cx="3657600" cy="3657600"/>
          </a:xfrm>
          <a:prstGeom prst="ellipse">
            <a:avLst/>
          </a:prstGeom>
          <a:solidFill>
            <a:srgbClr val="1E2761">
              <a:alpha val="40000"/>
            </a:srgbClr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2" name="Google Shape;89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4518" y="2691475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28"/>
          <p:cNvSpPr/>
          <p:nvPr/>
        </p:nvSpPr>
        <p:spPr>
          <a:xfrm>
            <a:off x="509575" y="1242440"/>
            <a:ext cx="11277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Köszön</a:t>
            </a:r>
            <a:r>
              <a:rPr b="1" lang="en-US" sz="4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jük</a:t>
            </a: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a figyelmet!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4" name="Google Shape;894;p28"/>
          <p:cNvCxnSpPr/>
          <p:nvPr/>
        </p:nvCxnSpPr>
        <p:spPr>
          <a:xfrm>
            <a:off x="4724248" y="4634165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5" name="Google Shape;895;p28"/>
          <p:cNvSpPr/>
          <p:nvPr/>
        </p:nvSpPr>
        <p:spPr>
          <a:xfrm>
            <a:off x="457350" y="5623390"/>
            <a:ext cx="1127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Vizsgaremek védés •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2026-04-30T17:08:27Z</dcterms:created>
  <dc:creator>Vizsgaremek</dc:creator>
</cp:coreProperties>
</file>